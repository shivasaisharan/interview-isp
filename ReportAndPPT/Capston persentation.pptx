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9"/>
  </p:notesMasterIdLst>
  <p:sldIdLst>
    <p:sldId id="256" r:id="rId2"/>
    <p:sldId id="257" r:id="rId3"/>
    <p:sldId id="258" r:id="rId4"/>
    <p:sldId id="268" r:id="rId5"/>
    <p:sldId id="259" r:id="rId6"/>
    <p:sldId id="267" r:id="rId7"/>
    <p:sldId id="260" r:id="rId8"/>
    <p:sldId id="270" r:id="rId9"/>
    <p:sldId id="265" r:id="rId10"/>
    <p:sldId id="272" r:id="rId11"/>
    <p:sldId id="273" r:id="rId12"/>
    <p:sldId id="263" r:id="rId13"/>
    <p:sldId id="271" r:id="rId14"/>
    <p:sldId id="275" r:id="rId15"/>
    <p:sldId id="276" r:id="rId16"/>
    <p:sldId id="274" r:id="rId17"/>
    <p:sldId id="269" r:id="rId18"/>
  </p:sldIdLst>
  <p:sldSz cx="14630400" cy="8229600"/>
  <p:notesSz cx="8229600" cy="14630400"/>
  <p:embeddedFontLst>
    <p:embeddedFont>
      <p:font typeface="DM Sans Medium" pitchFamily="2" charset="0"/>
      <p:regular r:id="rId20"/>
    </p:embeddedFont>
    <p:embeddedFont>
      <p:font typeface="Inter" panose="020B0604020202020204" charset="0"/>
      <p:regular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D484DEDD-79FE-4D14-A10A-463FDD9B40E5}">
          <p14:sldIdLst>
            <p14:sldId id="256"/>
            <p14:sldId id="257"/>
            <p14:sldId id="258"/>
          </p14:sldIdLst>
        </p14:section>
        <p14:section name="Untitled Section" id="{7CCFB241-F9FD-4217-A777-DEB395FDEBFC}">
          <p14:sldIdLst>
            <p14:sldId id="268"/>
            <p14:sldId id="259"/>
            <p14:sldId id="267"/>
            <p14:sldId id="260"/>
            <p14:sldId id="270"/>
            <p14:sldId id="265"/>
            <p14:sldId id="272"/>
            <p14:sldId id="273"/>
            <p14:sldId id="263"/>
            <p14:sldId id="271"/>
            <p14:sldId id="275"/>
            <p14:sldId id="276"/>
            <p14:sldId id="274"/>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5" d="100"/>
          <a:sy n="65" d="100"/>
        </p:scale>
        <p:origin x="83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font" Target="fonts/font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98069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240A03-2CA8-346F-D1FE-8081A04FC4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DA61BC-1018-4BEE-9E04-9F3E1B22A41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A3FF608-BD43-A2FD-0CEE-7734699E51E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9F3F2A2-98FA-BB88-8424-7E552B2A1A28}"/>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94393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FA9DDB-9574-6F01-CA15-0F917C9ED3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2F4C0C-2BE7-EB82-BC3B-4F8577DC6F2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2E34A8-FB12-9D55-CC7C-324E58B8146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E91955F-044F-D6ED-0C62-FDE81855F21E}"/>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26612614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508376-83CE-E9DA-2F4E-6FA8B548EA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A70E14-82B5-F772-BD24-29AF0262D7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C4E5127-506D-190B-D00A-E9D54E7E748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2E2ED94-E1D7-33A9-B329-22C36B30F379}"/>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40232966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9D52AD-024B-6673-208D-B0B9B6EE1B7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4E3DA4-4D2E-368F-F113-A34E710114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7042D8E-F3FD-8698-9CDA-0FF564AFABD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2E1B9CC-9233-7D50-4F62-8DB5B6F45CE2}"/>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373318106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1B641F-1DDE-5D10-7D9F-BD24D98B2F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810360-3F12-FCDE-0BD9-25B2CFAB683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7D31F8-9EB8-452B-1FD3-E7D08DFD87E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19DCB5D-B2D2-9703-0B94-7349ACA866BF}"/>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282762389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805675-C3BA-7098-864C-BB1057B653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604735-7D5B-4AB3-0EAF-90C2B3ED6E9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AD047C2-DC38-235C-7BE1-77015DA1297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F2C5B6A-D50A-8DA2-3B2E-73F228D5ADF5}"/>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13562930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E7C289-A9D6-247F-F7A6-7F1A22387F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106695-26D7-F480-D3E8-8219D8682D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9DB0AD-B5E8-1196-9183-60DB467F955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384728E-9964-D077-2F46-FBE7DD441C60}"/>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260360193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CC1BF5-A626-2B3A-26F9-198C639EA9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91FD9D-5CCE-24F8-E0EC-7B301A0EB24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F32DAB1-E30E-3688-F974-39052BB1A8D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CC72884-849A-E48A-4045-6AB091DB2E3A}"/>
              </a:ext>
            </a:extLst>
          </p:cNvPr>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55585605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51BC27-57CF-43CB-7D5D-3B16D5FB75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E9F66B-F85D-72BB-01BB-33D8E903F7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412D8C-62B1-05D0-D433-F15D2323BCB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DC77017-BD1E-FF5A-FF6A-FAB5ED2EF4DB}"/>
              </a:ext>
            </a:extLst>
          </p:cNvPr>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4870229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95C66D-759A-D401-5893-D38DBAAAAE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9DCD01-E5F9-1A8B-AAC6-D74B9796E8D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3FBC1C1-649C-650B-D72F-A333992A5E0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7CCE0AF-1337-8ABA-5395-85D69F5B052E}"/>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40177065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11213"/>
          </a:solidFill>
          <a:ln/>
        </p:spPr>
      </p:sp>
      <p:sp>
        <p:nvSpPr>
          <p:cNvPr id="3" name="Shape 1"/>
          <p:cNvSpPr/>
          <p:nvPr/>
        </p:nvSpPr>
        <p:spPr>
          <a:xfrm>
            <a:off x="0" y="0"/>
            <a:ext cx="14630400" cy="8229600"/>
          </a:xfrm>
          <a:prstGeom prst="rect">
            <a:avLst/>
          </a:prstGeom>
          <a:solidFill>
            <a:srgbClr val="2D313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11213"/>
          </a:solidFill>
          <a:ln/>
        </p:spPr>
      </p:sp>
      <p:sp>
        <p:nvSpPr>
          <p:cNvPr id="3" name="Shape 1"/>
          <p:cNvSpPr/>
          <p:nvPr/>
        </p:nvSpPr>
        <p:spPr>
          <a:xfrm>
            <a:off x="0" y="0"/>
            <a:ext cx="14630400" cy="8229600"/>
          </a:xfrm>
          <a:prstGeom prst="rect">
            <a:avLst/>
          </a:prstGeom>
          <a:solidFill>
            <a:srgbClr val="2D313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11213"/>
          </a:solidFill>
          <a:ln/>
        </p:spPr>
      </p:sp>
      <p:sp>
        <p:nvSpPr>
          <p:cNvPr id="3" name="Shape 1"/>
          <p:cNvSpPr/>
          <p:nvPr/>
        </p:nvSpPr>
        <p:spPr>
          <a:xfrm>
            <a:off x="0" y="0"/>
            <a:ext cx="14630400" cy="8229600"/>
          </a:xfrm>
          <a:prstGeom prst="rect">
            <a:avLst/>
          </a:prstGeom>
          <a:solidFill>
            <a:srgbClr val="2D313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11213"/>
          </a:solidFill>
          <a:ln/>
        </p:spPr>
      </p:sp>
      <p:sp>
        <p:nvSpPr>
          <p:cNvPr id="3" name="Shape 1"/>
          <p:cNvSpPr/>
          <p:nvPr/>
        </p:nvSpPr>
        <p:spPr>
          <a:xfrm>
            <a:off x="0" y="0"/>
            <a:ext cx="14630400" cy="8229600"/>
          </a:xfrm>
          <a:prstGeom prst="rect">
            <a:avLst/>
          </a:prstGeom>
          <a:solidFill>
            <a:srgbClr val="2D313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11213"/>
          </a:solidFill>
          <a:ln/>
        </p:spPr>
      </p:sp>
      <p:sp>
        <p:nvSpPr>
          <p:cNvPr id="3" name="Shape 1"/>
          <p:cNvSpPr/>
          <p:nvPr/>
        </p:nvSpPr>
        <p:spPr>
          <a:xfrm>
            <a:off x="0" y="0"/>
            <a:ext cx="14630400" cy="8229600"/>
          </a:xfrm>
          <a:prstGeom prst="rect">
            <a:avLst/>
          </a:prstGeom>
          <a:solidFill>
            <a:srgbClr val="2D313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11213"/>
          </a:solidFill>
          <a:ln/>
        </p:spPr>
      </p:sp>
      <p:sp>
        <p:nvSpPr>
          <p:cNvPr id="3" name="Shape 1"/>
          <p:cNvSpPr/>
          <p:nvPr/>
        </p:nvSpPr>
        <p:spPr>
          <a:xfrm>
            <a:off x="0" y="0"/>
            <a:ext cx="14630400" cy="8229600"/>
          </a:xfrm>
          <a:prstGeom prst="rect">
            <a:avLst/>
          </a:prstGeom>
          <a:solidFill>
            <a:srgbClr val="2D313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11213"/>
          </a:solidFill>
          <a:ln/>
        </p:spPr>
      </p:sp>
      <p:sp>
        <p:nvSpPr>
          <p:cNvPr id="3" name="Shape 1"/>
          <p:cNvSpPr/>
          <p:nvPr/>
        </p:nvSpPr>
        <p:spPr>
          <a:xfrm>
            <a:off x="0" y="0"/>
            <a:ext cx="14630400" cy="8229600"/>
          </a:xfrm>
          <a:prstGeom prst="rect">
            <a:avLst/>
          </a:prstGeom>
          <a:solidFill>
            <a:srgbClr val="2D313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11213"/>
          </a:solidFill>
          <a:ln/>
        </p:spPr>
      </p:sp>
      <p:sp>
        <p:nvSpPr>
          <p:cNvPr id="3" name="Shape 1"/>
          <p:cNvSpPr/>
          <p:nvPr/>
        </p:nvSpPr>
        <p:spPr>
          <a:xfrm>
            <a:off x="0" y="0"/>
            <a:ext cx="14630400" cy="8229600"/>
          </a:xfrm>
          <a:prstGeom prst="rect">
            <a:avLst/>
          </a:prstGeom>
          <a:solidFill>
            <a:srgbClr val="2D313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11213"/>
          </a:solidFill>
          <a:ln/>
        </p:spPr>
      </p:sp>
      <p:sp>
        <p:nvSpPr>
          <p:cNvPr id="3" name="Shape 1"/>
          <p:cNvSpPr/>
          <p:nvPr/>
        </p:nvSpPr>
        <p:spPr>
          <a:xfrm>
            <a:off x="0" y="0"/>
            <a:ext cx="14630400" cy="8229600"/>
          </a:xfrm>
          <a:prstGeom prst="rect">
            <a:avLst/>
          </a:prstGeom>
          <a:solidFill>
            <a:srgbClr val="2D313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11213"/>
          </a:solidFill>
          <a:ln/>
        </p:spPr>
      </p:sp>
      <p:sp>
        <p:nvSpPr>
          <p:cNvPr id="3" name="Shape 1"/>
          <p:cNvSpPr/>
          <p:nvPr/>
        </p:nvSpPr>
        <p:spPr>
          <a:xfrm>
            <a:off x="0" y="0"/>
            <a:ext cx="14630400" cy="8229600"/>
          </a:xfrm>
          <a:prstGeom prst="rect">
            <a:avLst/>
          </a:prstGeom>
          <a:solidFill>
            <a:srgbClr val="2D313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6.xml"/><Relationship Id="rId6" Type="http://schemas.openxmlformats.org/officeDocument/2006/relationships/image" Target="../media/image12.png"/><Relationship Id="rId5" Type="http://schemas.openxmlformats.org/officeDocument/2006/relationships/image" Target="../media/image11.png"/><Relationship Id="rId10" Type="http://schemas.openxmlformats.org/officeDocument/2006/relationships/image" Target="../media/image16.png"/><Relationship Id="rId4" Type="http://schemas.openxmlformats.org/officeDocument/2006/relationships/image" Target="../media/image10.png"/><Relationship Id="rId9" Type="http://schemas.openxmlformats.org/officeDocument/2006/relationships/image" Target="../media/image15.png"/></Relationships>
</file>

<file path=ppt/slides/_rels/slide8.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6.xml"/><Relationship Id="rId6" Type="http://schemas.openxmlformats.org/officeDocument/2006/relationships/image" Target="../media/image12.png"/><Relationship Id="rId5" Type="http://schemas.openxmlformats.org/officeDocument/2006/relationships/image" Target="../media/image11.png"/><Relationship Id="rId10" Type="http://schemas.openxmlformats.org/officeDocument/2006/relationships/image" Target="../media/image16.png"/><Relationship Id="rId4" Type="http://schemas.openxmlformats.org/officeDocument/2006/relationships/image" Target="../media/image10.png"/><Relationship Id="rId9" Type="http://schemas.openxmlformats.org/officeDocument/2006/relationships/image" Target="../media/image15.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3054429"/>
            <a:ext cx="7556421" cy="1602224"/>
          </a:xfrm>
          <a:prstGeom prst="rect">
            <a:avLst/>
          </a:prstGeom>
          <a:noFill/>
          <a:ln/>
        </p:spPr>
        <p:txBody>
          <a:bodyPr wrap="square" lIns="0" tIns="0" rIns="0" bIns="0" rtlCol="0" anchor="t"/>
          <a:lstStyle/>
          <a:p>
            <a:pPr algn="ctr">
              <a:lnSpc>
                <a:spcPts val="5550"/>
              </a:lnSpc>
            </a:pPr>
            <a:r>
              <a:rPr lang="en-US" sz="3200" dirty="0">
                <a:solidFill>
                  <a:srgbClr val="F7F7F8"/>
                </a:solidFill>
                <a:latin typeface="DM Sans Medium" pitchFamily="34" charset="0"/>
                <a:ea typeface="DM Sans Medium" pitchFamily="34" charset="-122"/>
                <a:cs typeface="DM Sans Medium" pitchFamily="34" charset="-120"/>
              </a:rPr>
              <a:t>AI ASSISTANCE </a:t>
            </a:r>
            <a:r>
              <a:rPr lang="en-IN" sz="3200" dirty="0">
                <a:solidFill>
                  <a:schemeClr val="bg1"/>
                </a:solidFill>
              </a:rPr>
              <a:t>FOR RESUME ANALYSIS AND INTERVIEW  EVALUATION</a:t>
            </a:r>
          </a:p>
          <a:p>
            <a:pPr marL="0" indent="0" algn="ctr">
              <a:lnSpc>
                <a:spcPts val="5550"/>
              </a:lnSpc>
              <a:buNone/>
            </a:pPr>
            <a:endParaRPr lang="en-US" sz="4450" dirty="0"/>
          </a:p>
        </p:txBody>
      </p:sp>
      <p:sp>
        <p:nvSpPr>
          <p:cNvPr id="5" name="Rectangle 4">
            <a:extLst>
              <a:ext uri="{FF2B5EF4-FFF2-40B4-BE49-F238E27FC236}">
                <a16:creationId xmlns:a16="http://schemas.microsoft.com/office/drawing/2014/main" id="{E60E494D-33C6-6A7F-D23A-33827722DA4B}"/>
              </a:ext>
            </a:extLst>
          </p:cNvPr>
          <p:cNvSpPr/>
          <p:nvPr/>
        </p:nvSpPr>
        <p:spPr>
          <a:xfrm>
            <a:off x="0" y="7705493"/>
            <a:ext cx="14630401" cy="524107"/>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IN"/>
          </a:p>
        </p:txBody>
      </p:sp>
      <p:sp>
        <p:nvSpPr>
          <p:cNvPr id="6" name="TextBox 5">
            <a:extLst>
              <a:ext uri="{FF2B5EF4-FFF2-40B4-BE49-F238E27FC236}">
                <a16:creationId xmlns:a16="http://schemas.microsoft.com/office/drawing/2014/main" id="{800FEDD4-4168-A1A4-D684-9CADE134CB9A}"/>
              </a:ext>
            </a:extLst>
          </p:cNvPr>
          <p:cNvSpPr txBox="1"/>
          <p:nvPr/>
        </p:nvSpPr>
        <p:spPr>
          <a:xfrm>
            <a:off x="10950497" y="4656653"/>
            <a:ext cx="3100039" cy="1200329"/>
          </a:xfrm>
          <a:prstGeom prst="rect">
            <a:avLst/>
          </a:prstGeom>
          <a:noFill/>
        </p:spPr>
        <p:txBody>
          <a:bodyPr wrap="square" rtlCol="0">
            <a:spAutoFit/>
          </a:bodyPr>
          <a:lstStyle/>
          <a:p>
            <a:r>
              <a:rPr lang="en-IN" dirty="0">
                <a:solidFill>
                  <a:schemeClr val="bg1"/>
                </a:solidFill>
              </a:rPr>
              <a:t>Altamas Nehal : 99220040423</a:t>
            </a:r>
          </a:p>
          <a:p>
            <a:r>
              <a:rPr lang="en-IN" dirty="0">
                <a:solidFill>
                  <a:schemeClr val="bg1"/>
                </a:solidFill>
              </a:rPr>
              <a:t>Avinash Kumar : 99220040442</a:t>
            </a:r>
          </a:p>
          <a:p>
            <a:r>
              <a:rPr lang="en-IN" dirty="0">
                <a:solidFill>
                  <a:schemeClr val="bg1"/>
                </a:solidFill>
              </a:rPr>
              <a:t>Sai Vignesh : 99220040397</a:t>
            </a:r>
          </a:p>
          <a:p>
            <a:r>
              <a:rPr lang="en-IN" dirty="0">
                <a:solidFill>
                  <a:schemeClr val="bg1"/>
                </a:solidFill>
              </a:rPr>
              <a:t>Md </a:t>
            </a:r>
            <a:r>
              <a:rPr lang="en-IN" dirty="0" err="1">
                <a:solidFill>
                  <a:schemeClr val="bg1"/>
                </a:solidFill>
              </a:rPr>
              <a:t>Musthafa</a:t>
            </a:r>
            <a:r>
              <a:rPr lang="en-IN" dirty="0">
                <a:solidFill>
                  <a:schemeClr val="bg1"/>
                </a:solidFill>
              </a:rPr>
              <a:t> : 99220040402</a:t>
            </a:r>
          </a:p>
        </p:txBody>
      </p:sp>
      <p:sp>
        <p:nvSpPr>
          <p:cNvPr id="8" name="Text 0">
            <a:extLst>
              <a:ext uri="{FF2B5EF4-FFF2-40B4-BE49-F238E27FC236}">
                <a16:creationId xmlns:a16="http://schemas.microsoft.com/office/drawing/2014/main" id="{AFFF6BDF-300D-7A43-AA24-85B04B18B3F7}"/>
              </a:ext>
            </a:extLst>
          </p:cNvPr>
          <p:cNvSpPr/>
          <p:nvPr/>
        </p:nvSpPr>
        <p:spPr>
          <a:xfrm>
            <a:off x="6280190" y="6106477"/>
            <a:ext cx="7770346" cy="1602224"/>
          </a:xfrm>
          <a:prstGeom prst="rect">
            <a:avLst/>
          </a:prstGeom>
          <a:noFill/>
          <a:ln/>
        </p:spPr>
        <p:txBody>
          <a:bodyPr wrap="square" lIns="0" tIns="0" rIns="0" bIns="0" rtlCol="0" anchor="t"/>
          <a:lstStyle/>
          <a:p>
            <a:pPr>
              <a:lnSpc>
                <a:spcPts val="5550"/>
              </a:lnSpc>
            </a:pPr>
            <a:r>
              <a:rPr lang="en-IN" sz="2000" dirty="0">
                <a:solidFill>
                  <a:srgbClr val="F7F7F8"/>
                </a:solidFill>
                <a:latin typeface="DM Sans Medium" pitchFamily="34" charset="0"/>
                <a:ea typeface="DM Sans Medium" pitchFamily="34" charset="-122"/>
                <a:cs typeface="DM Sans Medium" pitchFamily="34" charset="-120"/>
              </a:rPr>
              <a:t>Mentor :- Dr M K Nagarajan                                        TEAM :- 04</a:t>
            </a:r>
            <a:endParaRPr lang="en-IN" sz="2000" dirty="0">
              <a:solidFill>
                <a:schemeClr val="bg1"/>
              </a:solidFill>
            </a:endParaRPr>
          </a:p>
          <a:p>
            <a:pPr marL="0" indent="0" algn="ctr">
              <a:lnSpc>
                <a:spcPts val="5550"/>
              </a:lnSpc>
              <a:buNone/>
            </a:pPr>
            <a:endParaRPr lang="en-US" sz="44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1074182"/>
            <a:ext cx="6815138" cy="708779"/>
          </a:xfrm>
          <a:prstGeom prst="rect">
            <a:avLst/>
          </a:prstGeom>
          <a:noFill/>
          <a:ln/>
        </p:spPr>
        <p:txBody>
          <a:bodyPr wrap="none" lIns="0" tIns="0" rIns="0" bIns="0" rtlCol="0" anchor="t"/>
          <a:lstStyle/>
          <a:p>
            <a:pPr marL="0" indent="0" algn="l">
              <a:lnSpc>
                <a:spcPts val="5550"/>
              </a:lnSpc>
              <a:buNone/>
            </a:pPr>
            <a:r>
              <a:rPr lang="en-US" sz="4450" dirty="0">
                <a:solidFill>
                  <a:srgbClr val="F7F7F8"/>
                </a:solidFill>
                <a:latin typeface="DM Sans Medium" pitchFamily="34" charset="0"/>
                <a:ea typeface="DM Sans Medium" pitchFamily="34" charset="-122"/>
                <a:cs typeface="DM Sans Medium" pitchFamily="34" charset="-120"/>
              </a:rPr>
              <a:t>Problem Statement</a:t>
            </a:r>
            <a:endParaRPr lang="en-US" sz="4450" dirty="0"/>
          </a:p>
        </p:txBody>
      </p:sp>
      <p:sp>
        <p:nvSpPr>
          <p:cNvPr id="4" name="Text 1"/>
          <p:cNvSpPr/>
          <p:nvPr/>
        </p:nvSpPr>
        <p:spPr>
          <a:xfrm>
            <a:off x="793790" y="2123122"/>
            <a:ext cx="7556421" cy="2093714"/>
          </a:xfrm>
          <a:prstGeom prst="rect">
            <a:avLst/>
          </a:prstGeom>
          <a:noFill/>
          <a:ln/>
        </p:spPr>
        <p:txBody>
          <a:bodyPr wrap="square" lIns="0" tIns="0" rIns="0" bIns="0" rtlCol="0" anchor="t"/>
          <a:lstStyle/>
          <a:p>
            <a:pPr marL="0" indent="0" algn="l">
              <a:lnSpc>
                <a:spcPts val="2850"/>
              </a:lnSpc>
              <a:buNone/>
            </a:pPr>
            <a:r>
              <a:rPr lang="en-US" sz="1750" dirty="0">
                <a:solidFill>
                  <a:srgbClr val="D6D9D7"/>
                </a:solidFill>
                <a:latin typeface="Inter" pitchFamily="34" charset="0"/>
                <a:ea typeface="Inter" pitchFamily="34" charset="-122"/>
                <a:cs typeface="Inter" pitchFamily="34" charset="-120"/>
              </a:rPr>
              <a:t>The traditional recruitment process is time-consuming, biased, and inefficient due to manual resume screening and interviews. There is a need for an AI-based system to automate candidate evaluation, improve accuracy, reduce bias, and streamline the hiring process effectively.</a:t>
            </a:r>
            <a:endParaRPr lang="en-US" sz="1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938570"/>
            <a:ext cx="5875258" cy="602456"/>
          </a:xfrm>
          <a:prstGeom prst="rect">
            <a:avLst/>
          </a:prstGeom>
          <a:noFill/>
          <a:ln/>
        </p:spPr>
        <p:txBody>
          <a:bodyPr wrap="none" lIns="0" tIns="0" rIns="0" bIns="0" rtlCol="0" anchor="t"/>
          <a:lstStyle/>
          <a:p>
            <a:pPr marL="0" indent="0" algn="l">
              <a:lnSpc>
                <a:spcPts val="4700"/>
              </a:lnSpc>
              <a:buNone/>
            </a:pPr>
            <a:r>
              <a:rPr lang="en-US" sz="3750" dirty="0">
                <a:solidFill>
                  <a:srgbClr val="F7F7F8"/>
                </a:solidFill>
                <a:latin typeface="DM Sans Medium" pitchFamily="34" charset="0"/>
                <a:ea typeface="DM Sans Medium" pitchFamily="34" charset="-122"/>
                <a:cs typeface="DM Sans Medium" pitchFamily="34" charset="-120"/>
              </a:rPr>
              <a:t>Proposed Solution</a:t>
            </a:r>
            <a:endParaRPr lang="en-US" sz="3750" dirty="0"/>
          </a:p>
        </p:txBody>
      </p:sp>
      <p:sp>
        <p:nvSpPr>
          <p:cNvPr id="4" name="Text 1"/>
          <p:cNvSpPr/>
          <p:nvPr/>
        </p:nvSpPr>
        <p:spPr>
          <a:xfrm>
            <a:off x="6280190" y="1830229"/>
            <a:ext cx="7556421" cy="616744"/>
          </a:xfrm>
          <a:prstGeom prst="rect">
            <a:avLst/>
          </a:prstGeom>
          <a:noFill/>
          <a:ln/>
        </p:spPr>
        <p:txBody>
          <a:bodyPr wrap="square" lIns="0" tIns="0" rIns="0" bIns="0" rtlCol="0" anchor="t"/>
          <a:lstStyle/>
          <a:p>
            <a:pPr marL="0" indent="0" algn="l">
              <a:lnSpc>
                <a:spcPts val="2400"/>
              </a:lnSpc>
              <a:buNone/>
            </a:pPr>
            <a:r>
              <a:rPr lang="en-US" sz="1500" dirty="0">
                <a:solidFill>
                  <a:srgbClr val="D6D9D7"/>
                </a:solidFill>
                <a:latin typeface="Inter" pitchFamily="34" charset="0"/>
                <a:ea typeface="Inter" pitchFamily="34" charset="-122"/>
                <a:cs typeface="Inter" pitchFamily="34" charset="-120"/>
              </a:rPr>
              <a:t>Our platform offers a comprehensive, secure, and scalable ecosystem built using PERN stack.</a:t>
            </a:r>
            <a:endParaRPr lang="en-US" sz="1500" dirty="0"/>
          </a:p>
        </p:txBody>
      </p:sp>
      <p:pic>
        <p:nvPicPr>
          <p:cNvPr id="5" name="Image 1" descr="preencoded.png"/>
          <p:cNvPicPr>
            <a:picLocks noChangeAspect="1"/>
          </p:cNvPicPr>
          <p:nvPr/>
        </p:nvPicPr>
        <p:blipFill>
          <a:blip r:embed="rId4"/>
          <a:stretch>
            <a:fillRect/>
          </a:stretch>
        </p:blipFill>
        <p:spPr>
          <a:xfrm>
            <a:off x="6280190" y="2663785"/>
            <a:ext cx="963930" cy="1156811"/>
          </a:xfrm>
          <a:prstGeom prst="rect">
            <a:avLst/>
          </a:prstGeom>
        </p:spPr>
      </p:pic>
      <p:sp>
        <p:nvSpPr>
          <p:cNvPr id="7" name="Text 3"/>
          <p:cNvSpPr/>
          <p:nvPr/>
        </p:nvSpPr>
        <p:spPr>
          <a:xfrm>
            <a:off x="7436882" y="2736176"/>
            <a:ext cx="6399728" cy="845581"/>
          </a:xfrm>
          <a:prstGeom prst="rect">
            <a:avLst/>
          </a:prstGeom>
          <a:noFill/>
          <a:ln/>
        </p:spPr>
        <p:txBody>
          <a:bodyPr wrap="none" lIns="0" tIns="0" rIns="0" bIns="0" rtlCol="0" anchor="t"/>
          <a:lstStyle/>
          <a:p>
            <a:pPr marL="0" indent="0" algn="l">
              <a:lnSpc>
                <a:spcPts val="2400"/>
              </a:lnSpc>
              <a:buNone/>
            </a:pPr>
            <a:r>
              <a:rPr lang="en-US" sz="1500" dirty="0">
                <a:solidFill>
                  <a:srgbClr val="D6D9D7"/>
                </a:solidFill>
                <a:latin typeface="Inter" pitchFamily="34" charset="0"/>
                <a:ea typeface="Inter" pitchFamily="34" charset="-122"/>
                <a:cs typeface="Inter" pitchFamily="34" charset="-120"/>
              </a:rPr>
              <a:t>Develop an AI-based system to automatically analyze and rank resumes..</a:t>
            </a:r>
            <a:endParaRPr lang="en-US" sz="1500" dirty="0"/>
          </a:p>
        </p:txBody>
      </p:sp>
      <p:pic>
        <p:nvPicPr>
          <p:cNvPr id="8" name="Image 2" descr="preencoded.png"/>
          <p:cNvPicPr>
            <a:picLocks noChangeAspect="1"/>
          </p:cNvPicPr>
          <p:nvPr/>
        </p:nvPicPr>
        <p:blipFill>
          <a:blip r:embed="rId5"/>
          <a:stretch>
            <a:fillRect/>
          </a:stretch>
        </p:blipFill>
        <p:spPr>
          <a:xfrm>
            <a:off x="6280190" y="3820597"/>
            <a:ext cx="963930" cy="1156811"/>
          </a:xfrm>
          <a:prstGeom prst="rect">
            <a:avLst/>
          </a:prstGeom>
        </p:spPr>
      </p:pic>
      <p:sp>
        <p:nvSpPr>
          <p:cNvPr id="10" name="Text 5"/>
          <p:cNvSpPr/>
          <p:nvPr/>
        </p:nvSpPr>
        <p:spPr>
          <a:xfrm>
            <a:off x="7436882" y="3892988"/>
            <a:ext cx="6399728" cy="845581"/>
          </a:xfrm>
          <a:prstGeom prst="rect">
            <a:avLst/>
          </a:prstGeom>
          <a:noFill/>
          <a:ln/>
        </p:spPr>
        <p:txBody>
          <a:bodyPr wrap="none" lIns="0" tIns="0" rIns="0" bIns="0" rtlCol="0" anchor="t"/>
          <a:lstStyle/>
          <a:p>
            <a:pPr marL="0" indent="0" algn="l">
              <a:lnSpc>
                <a:spcPts val="2400"/>
              </a:lnSpc>
              <a:buNone/>
            </a:pPr>
            <a:r>
              <a:rPr lang="en-US" sz="1500" dirty="0">
                <a:solidFill>
                  <a:srgbClr val="D6D9D7"/>
                </a:solidFill>
                <a:latin typeface="Inter" pitchFamily="34" charset="0"/>
                <a:ea typeface="Inter" pitchFamily="34" charset="-122"/>
                <a:cs typeface="Inter" pitchFamily="34" charset="-120"/>
              </a:rPr>
              <a:t>Implement an intelligent interview engine to generate and</a:t>
            </a:r>
          </a:p>
          <a:p>
            <a:pPr marL="0" indent="0" algn="l">
              <a:lnSpc>
                <a:spcPts val="2400"/>
              </a:lnSpc>
              <a:buNone/>
            </a:pPr>
            <a:r>
              <a:rPr lang="en-US" sz="1500" dirty="0">
                <a:solidFill>
                  <a:srgbClr val="D6D9D7"/>
                </a:solidFill>
                <a:latin typeface="Inter" pitchFamily="34" charset="0"/>
                <a:ea typeface="Inter" pitchFamily="34" charset="-122"/>
                <a:cs typeface="Inter" pitchFamily="34" charset="-120"/>
              </a:rPr>
              <a:t> ask questions dynamically..</a:t>
            </a:r>
            <a:endParaRPr lang="en-US" sz="1500" dirty="0"/>
          </a:p>
        </p:txBody>
      </p:sp>
      <p:pic>
        <p:nvPicPr>
          <p:cNvPr id="11" name="Image 3" descr="preencoded.png"/>
          <p:cNvPicPr>
            <a:picLocks noChangeAspect="1"/>
          </p:cNvPicPr>
          <p:nvPr/>
        </p:nvPicPr>
        <p:blipFill>
          <a:blip r:embed="rId6"/>
          <a:stretch>
            <a:fillRect/>
          </a:stretch>
        </p:blipFill>
        <p:spPr>
          <a:xfrm>
            <a:off x="6280190" y="4977408"/>
            <a:ext cx="963930" cy="1156811"/>
          </a:xfrm>
          <a:prstGeom prst="rect">
            <a:avLst/>
          </a:prstGeom>
        </p:spPr>
      </p:pic>
      <p:sp>
        <p:nvSpPr>
          <p:cNvPr id="13" name="Text 7"/>
          <p:cNvSpPr/>
          <p:nvPr/>
        </p:nvSpPr>
        <p:spPr>
          <a:xfrm>
            <a:off x="7436882" y="5170169"/>
            <a:ext cx="6399728" cy="725211"/>
          </a:xfrm>
          <a:prstGeom prst="rect">
            <a:avLst/>
          </a:prstGeom>
          <a:noFill/>
          <a:ln/>
        </p:spPr>
        <p:txBody>
          <a:bodyPr wrap="none" lIns="0" tIns="0" rIns="0" bIns="0" rtlCol="0" anchor="t"/>
          <a:lstStyle/>
          <a:p>
            <a:pPr marL="0" indent="0" algn="l">
              <a:lnSpc>
                <a:spcPts val="2400"/>
              </a:lnSpc>
              <a:buNone/>
            </a:pPr>
            <a:r>
              <a:rPr lang="en-US" sz="1500" dirty="0">
                <a:solidFill>
                  <a:srgbClr val="D6D9D7"/>
                </a:solidFill>
                <a:latin typeface="Inter" pitchFamily="34" charset="0"/>
                <a:ea typeface="Inter" pitchFamily="34" charset="-122"/>
                <a:cs typeface="Inter" pitchFamily="34" charset="-120"/>
              </a:rPr>
              <a:t>Use NLP techniques to evaluate candidate responses in real time.</a:t>
            </a:r>
            <a:endParaRPr lang="en-US" sz="1500" dirty="0"/>
          </a:p>
        </p:txBody>
      </p:sp>
      <p:pic>
        <p:nvPicPr>
          <p:cNvPr id="14" name="Image 4" descr="preencoded.png"/>
          <p:cNvPicPr>
            <a:picLocks noChangeAspect="1"/>
          </p:cNvPicPr>
          <p:nvPr/>
        </p:nvPicPr>
        <p:blipFill>
          <a:blip r:embed="rId7"/>
          <a:stretch>
            <a:fillRect/>
          </a:stretch>
        </p:blipFill>
        <p:spPr>
          <a:xfrm>
            <a:off x="6280190" y="6134219"/>
            <a:ext cx="963930" cy="1156811"/>
          </a:xfrm>
          <a:prstGeom prst="rect">
            <a:avLst/>
          </a:prstGeom>
        </p:spPr>
      </p:pic>
      <p:sp>
        <p:nvSpPr>
          <p:cNvPr id="16" name="Text 9"/>
          <p:cNvSpPr/>
          <p:nvPr/>
        </p:nvSpPr>
        <p:spPr>
          <a:xfrm>
            <a:off x="7436882" y="6309842"/>
            <a:ext cx="6399728" cy="742349"/>
          </a:xfrm>
          <a:prstGeom prst="rect">
            <a:avLst/>
          </a:prstGeom>
          <a:noFill/>
          <a:ln/>
        </p:spPr>
        <p:txBody>
          <a:bodyPr wrap="none" lIns="0" tIns="0" rIns="0" bIns="0" rtlCol="0" anchor="t"/>
          <a:lstStyle/>
          <a:p>
            <a:pPr marL="0" indent="0" algn="l">
              <a:lnSpc>
                <a:spcPts val="2400"/>
              </a:lnSpc>
              <a:buNone/>
            </a:pPr>
            <a:r>
              <a:rPr lang="en-US" sz="1500" dirty="0">
                <a:solidFill>
                  <a:srgbClr val="D6D9D7"/>
                </a:solidFill>
                <a:latin typeface="Inter" pitchFamily="34" charset="0"/>
                <a:ea typeface="Inter" pitchFamily="34" charset="-122"/>
                <a:cs typeface="Inter" pitchFamily="34" charset="-120"/>
              </a:rPr>
              <a:t>Provide automated scoring and feedback to support unbiased</a:t>
            </a:r>
          </a:p>
          <a:p>
            <a:pPr marL="0" indent="0" algn="l">
              <a:lnSpc>
                <a:spcPts val="2400"/>
              </a:lnSpc>
              <a:buNone/>
            </a:pPr>
            <a:r>
              <a:rPr lang="en-US" sz="1500" dirty="0">
                <a:solidFill>
                  <a:srgbClr val="D6D9D7"/>
                </a:solidFill>
                <a:latin typeface="Inter" pitchFamily="34" charset="0"/>
                <a:ea typeface="Inter" pitchFamily="34" charset="-122"/>
                <a:cs typeface="Inter" pitchFamily="34" charset="-120"/>
              </a:rPr>
              <a:t> decision making.</a:t>
            </a:r>
            <a:endParaRPr lang="en-US" sz="1500" dirty="0"/>
          </a:p>
        </p:txBody>
      </p:sp>
      <p:sp>
        <p:nvSpPr>
          <p:cNvPr id="17" name="Rectangle 16">
            <a:extLst>
              <a:ext uri="{FF2B5EF4-FFF2-40B4-BE49-F238E27FC236}">
                <a16:creationId xmlns:a16="http://schemas.microsoft.com/office/drawing/2014/main" id="{A1B02B8F-C80B-99A0-EE25-BF1668252B69}"/>
              </a:ext>
            </a:extLst>
          </p:cNvPr>
          <p:cNvSpPr/>
          <p:nvPr/>
        </p:nvSpPr>
        <p:spPr>
          <a:xfrm>
            <a:off x="0" y="7705493"/>
            <a:ext cx="14630401" cy="524107"/>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IN"/>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9FEEC4-7347-BB9F-7396-3A17057C36E6}"/>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09C2DC8B-30DB-53FA-4491-D2F4C6AF5C00}"/>
              </a:ext>
            </a:extLst>
          </p:cNvPr>
          <p:cNvSpPr/>
          <p:nvPr/>
        </p:nvSpPr>
        <p:spPr>
          <a:xfrm>
            <a:off x="793790" y="663893"/>
            <a:ext cx="4566880" cy="531614"/>
          </a:xfrm>
          <a:prstGeom prst="rect">
            <a:avLst/>
          </a:prstGeom>
          <a:noFill/>
          <a:ln/>
        </p:spPr>
        <p:txBody>
          <a:bodyPr wrap="none" lIns="0" tIns="0" rIns="0" bIns="0" rtlCol="0" anchor="t"/>
          <a:lstStyle/>
          <a:p>
            <a:pPr marL="0" indent="0" algn="l">
              <a:lnSpc>
                <a:spcPts val="4150"/>
              </a:lnSpc>
              <a:buNone/>
            </a:pPr>
            <a:r>
              <a:rPr lang="en-US" sz="3300" dirty="0">
                <a:solidFill>
                  <a:srgbClr val="F7F7F8"/>
                </a:solidFill>
                <a:latin typeface="DM Sans Medium" pitchFamily="34" charset="0"/>
                <a:ea typeface="DM Sans Medium" pitchFamily="34" charset="-122"/>
                <a:cs typeface="DM Sans Medium" pitchFamily="34" charset="-120"/>
              </a:rPr>
              <a:t>Literature Survey</a:t>
            </a:r>
            <a:endParaRPr lang="en-US" sz="3300" dirty="0"/>
          </a:p>
        </p:txBody>
      </p:sp>
      <p:sp>
        <p:nvSpPr>
          <p:cNvPr id="22" name="Rectangle 21">
            <a:extLst>
              <a:ext uri="{FF2B5EF4-FFF2-40B4-BE49-F238E27FC236}">
                <a16:creationId xmlns:a16="http://schemas.microsoft.com/office/drawing/2014/main" id="{2051D853-AC05-253D-6D85-B2CCCBA0A950}"/>
              </a:ext>
            </a:extLst>
          </p:cNvPr>
          <p:cNvSpPr/>
          <p:nvPr/>
        </p:nvSpPr>
        <p:spPr>
          <a:xfrm>
            <a:off x="0" y="7705493"/>
            <a:ext cx="14630401" cy="524107"/>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IN"/>
          </a:p>
        </p:txBody>
      </p:sp>
      <p:graphicFrame>
        <p:nvGraphicFramePr>
          <p:cNvPr id="23" name="Table 22">
            <a:extLst>
              <a:ext uri="{FF2B5EF4-FFF2-40B4-BE49-F238E27FC236}">
                <a16:creationId xmlns:a16="http://schemas.microsoft.com/office/drawing/2014/main" id="{12A0A3D0-5E7B-2D68-CC21-D97FDD96B3A6}"/>
              </a:ext>
            </a:extLst>
          </p:cNvPr>
          <p:cNvGraphicFramePr>
            <a:graphicFrameLocks noGrp="1"/>
          </p:cNvGraphicFramePr>
          <p:nvPr>
            <p:extLst>
              <p:ext uri="{D42A27DB-BD31-4B8C-83A1-F6EECF244321}">
                <p14:modId xmlns:p14="http://schemas.microsoft.com/office/powerpoint/2010/main" val="1495674799"/>
              </p:ext>
            </p:extLst>
          </p:nvPr>
        </p:nvGraphicFramePr>
        <p:xfrm>
          <a:off x="1282388" y="1688789"/>
          <a:ext cx="13046929" cy="4782621"/>
        </p:xfrm>
        <a:graphic>
          <a:graphicData uri="http://schemas.openxmlformats.org/drawingml/2006/table">
            <a:tbl>
              <a:tblPr firstRow="1" bandRow="1">
                <a:tableStyleId>{7E9639D4-E3E2-4D34-9284-5A2195B3D0D7}</a:tableStyleId>
              </a:tblPr>
              <a:tblGrid>
                <a:gridCol w="2745452">
                  <a:extLst>
                    <a:ext uri="{9D8B030D-6E8A-4147-A177-3AD203B41FA5}">
                      <a16:colId xmlns:a16="http://schemas.microsoft.com/office/drawing/2014/main" val="3782131619"/>
                    </a:ext>
                  </a:extLst>
                </a:gridCol>
                <a:gridCol w="2745452">
                  <a:extLst>
                    <a:ext uri="{9D8B030D-6E8A-4147-A177-3AD203B41FA5}">
                      <a16:colId xmlns:a16="http://schemas.microsoft.com/office/drawing/2014/main" val="268963017"/>
                    </a:ext>
                  </a:extLst>
                </a:gridCol>
                <a:gridCol w="2745452">
                  <a:extLst>
                    <a:ext uri="{9D8B030D-6E8A-4147-A177-3AD203B41FA5}">
                      <a16:colId xmlns:a16="http://schemas.microsoft.com/office/drawing/2014/main" val="2378767241"/>
                    </a:ext>
                  </a:extLst>
                </a:gridCol>
                <a:gridCol w="4810573">
                  <a:extLst>
                    <a:ext uri="{9D8B030D-6E8A-4147-A177-3AD203B41FA5}">
                      <a16:colId xmlns:a16="http://schemas.microsoft.com/office/drawing/2014/main" val="3523609546"/>
                    </a:ext>
                  </a:extLst>
                </a:gridCol>
              </a:tblGrid>
              <a:tr h="0">
                <a:tc>
                  <a:txBody>
                    <a:bodyPr/>
                    <a:lstStyle/>
                    <a:p>
                      <a:pPr algn="ctr"/>
                      <a:r>
                        <a:rPr lang="en-IN" dirty="0"/>
                        <a:t>Journal/Year</a:t>
                      </a:r>
                    </a:p>
                  </a:txBody>
                  <a:tcPr/>
                </a:tc>
                <a:tc>
                  <a:txBody>
                    <a:bodyPr/>
                    <a:lstStyle/>
                    <a:p>
                      <a:pPr algn="ctr"/>
                      <a:r>
                        <a:rPr lang="en-IN" dirty="0"/>
                        <a:t>Author</a:t>
                      </a:r>
                    </a:p>
                  </a:txBody>
                  <a:tcPr/>
                </a:tc>
                <a:tc>
                  <a:txBody>
                    <a:bodyPr/>
                    <a:lstStyle/>
                    <a:p>
                      <a:pPr algn="ctr"/>
                      <a:r>
                        <a:rPr lang="en-IN" dirty="0"/>
                        <a:t>Methodology</a:t>
                      </a:r>
                    </a:p>
                  </a:txBody>
                  <a:tcPr/>
                </a:tc>
                <a:tc>
                  <a:txBody>
                    <a:bodyPr/>
                    <a:lstStyle/>
                    <a:p>
                      <a:pPr algn="ctr"/>
                      <a:r>
                        <a:rPr lang="en-IN" dirty="0"/>
                        <a:t>Research Gap</a:t>
                      </a:r>
                    </a:p>
                  </a:txBody>
                  <a:tcPr/>
                </a:tc>
                <a:extLst>
                  <a:ext uri="{0D108BD9-81ED-4DB2-BD59-A6C34878D82A}">
                    <a16:rowId xmlns:a16="http://schemas.microsoft.com/office/drawing/2014/main" val="2708840369"/>
                  </a:ext>
                </a:extLst>
              </a:tr>
              <a:tr h="2231701">
                <a:tc>
                  <a:txBody>
                    <a:bodyPr/>
                    <a:lstStyle/>
                    <a:p>
                      <a:r>
                        <a:rPr lang="en-IN" dirty="0">
                          <a:solidFill>
                            <a:schemeClr val="bg1"/>
                          </a:solidFill>
                        </a:rPr>
                        <a:t>International Journal of Computer Science, 2025</a:t>
                      </a:r>
                    </a:p>
                  </a:txBody>
                  <a:tcPr/>
                </a:tc>
                <a:tc>
                  <a:txBody>
                    <a:bodyPr/>
                    <a:lstStyle/>
                    <a:p>
                      <a:r>
                        <a:rPr lang="en-IN" dirty="0">
                          <a:solidFill>
                            <a:schemeClr val="bg1"/>
                          </a:solidFill>
                        </a:rPr>
                        <a:t>Mehtap </a:t>
                      </a:r>
                      <a:r>
                        <a:rPr lang="en-IN" dirty="0" err="1">
                          <a:solidFill>
                            <a:schemeClr val="bg1"/>
                          </a:solidFill>
                        </a:rPr>
                        <a:t>Saatcı</a:t>
                      </a:r>
                      <a:r>
                        <a:rPr lang="en-IN" dirty="0">
                          <a:solidFill>
                            <a:schemeClr val="bg1"/>
                          </a:solidFill>
                        </a:rPr>
                        <a:t> et al, Zeynep Hilal </a:t>
                      </a:r>
                      <a:r>
                        <a:rPr lang="en-IN" dirty="0" err="1">
                          <a:solidFill>
                            <a:schemeClr val="bg1"/>
                          </a:solidFill>
                        </a:rPr>
                        <a:t>Kilimci</a:t>
                      </a:r>
                      <a:endParaRPr lang="en-IN" dirty="0">
                        <a:solidFill>
                          <a:schemeClr val="bg1"/>
                        </a:solidFill>
                      </a:endParaRPr>
                    </a:p>
                  </a:txBody>
                  <a:tcPr/>
                </a:tc>
                <a:tc>
                  <a:txBody>
                    <a:bodyPr/>
                    <a:lstStyle/>
                    <a:p>
                      <a:r>
                        <a:rPr lang="en-US" dirty="0">
                          <a:solidFill>
                            <a:schemeClr val="bg1"/>
                          </a:solidFill>
                        </a:rPr>
                        <a:t>NLP and Machine Learning used for resume parsing and job matching</a:t>
                      </a:r>
                      <a:endParaRPr lang="en-IN" dirty="0">
                        <a:solidFill>
                          <a:schemeClr val="bg1"/>
                        </a:solidFill>
                      </a:endParaRPr>
                    </a:p>
                  </a:txBody>
                  <a:tcPr/>
                </a:tc>
                <a:tc>
                  <a:txBody>
                    <a:bodyPr/>
                    <a:lstStyle/>
                    <a:p>
                      <a:r>
                        <a:rPr lang="en-US" dirty="0">
                          <a:solidFill>
                            <a:schemeClr val="bg1"/>
                          </a:solidFill>
                        </a:rPr>
                        <a:t>Cannot evaluate soft skills and contextual understanding</a:t>
                      </a:r>
                      <a:endParaRPr lang="en-IN" dirty="0">
                        <a:solidFill>
                          <a:schemeClr val="bg1"/>
                        </a:solidFill>
                      </a:endParaRPr>
                    </a:p>
                  </a:txBody>
                  <a:tcPr/>
                </a:tc>
                <a:extLst>
                  <a:ext uri="{0D108BD9-81ED-4DB2-BD59-A6C34878D82A}">
                    <a16:rowId xmlns:a16="http://schemas.microsoft.com/office/drawing/2014/main" val="182812545"/>
                  </a:ext>
                </a:extLst>
              </a:tr>
              <a:tr h="2185160">
                <a:tc>
                  <a:txBody>
                    <a:bodyPr/>
                    <a:lstStyle/>
                    <a:p>
                      <a:r>
                        <a:rPr lang="en-IN" dirty="0">
                          <a:solidFill>
                            <a:schemeClr val="bg1"/>
                          </a:solidFill>
                        </a:rPr>
                        <a:t>International Journal of Computer Applications, 2025</a:t>
                      </a:r>
                    </a:p>
                  </a:txBody>
                  <a:tcPr/>
                </a:tc>
                <a:tc>
                  <a:txBody>
                    <a:bodyPr/>
                    <a:lstStyle/>
                    <a:p>
                      <a:r>
                        <a:rPr lang="da-DK" dirty="0">
                          <a:solidFill>
                            <a:schemeClr val="bg1"/>
                          </a:solidFill>
                        </a:rPr>
                        <a:t>K. R. Shinde, S. B. Patil</a:t>
                      </a:r>
                      <a:endParaRPr lang="en-IN" dirty="0">
                        <a:solidFill>
                          <a:schemeClr val="bg1"/>
                        </a:solidFill>
                      </a:endParaRPr>
                    </a:p>
                  </a:txBody>
                  <a:tcPr/>
                </a:tc>
                <a:tc>
                  <a:txBody>
                    <a:bodyPr/>
                    <a:lstStyle/>
                    <a:p>
                      <a:r>
                        <a:rPr lang="en-US" dirty="0">
                          <a:solidFill>
                            <a:schemeClr val="bg1"/>
                          </a:solidFill>
                        </a:rPr>
                        <a:t>Automated resume classification using ML algorithms</a:t>
                      </a:r>
                      <a:endParaRPr lang="en-IN" dirty="0">
                        <a:solidFill>
                          <a:schemeClr val="bg1"/>
                        </a:solidFill>
                      </a:endParaRPr>
                    </a:p>
                  </a:txBody>
                  <a:tcPr/>
                </a:tc>
                <a:tc>
                  <a:txBody>
                    <a:bodyPr/>
                    <a:lstStyle/>
                    <a:p>
                      <a:r>
                        <a:rPr lang="en-US" dirty="0">
                          <a:solidFill>
                            <a:schemeClr val="bg1"/>
                          </a:solidFill>
                        </a:rPr>
                        <a:t>No integration with interview systems</a:t>
                      </a:r>
                      <a:endParaRPr lang="en-IN" dirty="0">
                        <a:solidFill>
                          <a:schemeClr val="bg1"/>
                        </a:solidFill>
                      </a:endParaRPr>
                    </a:p>
                  </a:txBody>
                  <a:tcPr/>
                </a:tc>
                <a:extLst>
                  <a:ext uri="{0D108BD9-81ED-4DB2-BD59-A6C34878D82A}">
                    <a16:rowId xmlns:a16="http://schemas.microsoft.com/office/drawing/2014/main" val="1979991553"/>
                  </a:ext>
                </a:extLst>
              </a:tr>
            </a:tbl>
          </a:graphicData>
        </a:graphic>
      </p:graphicFrame>
    </p:spTree>
    <p:extLst>
      <p:ext uri="{BB962C8B-B14F-4D97-AF65-F5344CB8AC3E}">
        <p14:creationId xmlns:p14="http://schemas.microsoft.com/office/powerpoint/2010/main" val="32433159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663893"/>
            <a:ext cx="4566880" cy="531614"/>
          </a:xfrm>
          <a:prstGeom prst="rect">
            <a:avLst/>
          </a:prstGeom>
          <a:noFill/>
          <a:ln/>
        </p:spPr>
        <p:txBody>
          <a:bodyPr wrap="none" lIns="0" tIns="0" rIns="0" bIns="0" rtlCol="0" anchor="t"/>
          <a:lstStyle/>
          <a:p>
            <a:pPr marL="0" indent="0" algn="l">
              <a:lnSpc>
                <a:spcPts val="4150"/>
              </a:lnSpc>
              <a:buNone/>
            </a:pPr>
            <a:r>
              <a:rPr lang="en-US" sz="3300" dirty="0">
                <a:solidFill>
                  <a:srgbClr val="F7F7F8"/>
                </a:solidFill>
                <a:latin typeface="DM Sans Medium" pitchFamily="34" charset="0"/>
                <a:ea typeface="DM Sans Medium" pitchFamily="34" charset="-122"/>
                <a:cs typeface="DM Sans Medium" pitchFamily="34" charset="-120"/>
              </a:rPr>
              <a:t>Literature Survey</a:t>
            </a:r>
            <a:endParaRPr lang="en-US" sz="3300" dirty="0"/>
          </a:p>
        </p:txBody>
      </p:sp>
      <p:sp>
        <p:nvSpPr>
          <p:cNvPr id="22" name="Rectangle 21">
            <a:extLst>
              <a:ext uri="{FF2B5EF4-FFF2-40B4-BE49-F238E27FC236}">
                <a16:creationId xmlns:a16="http://schemas.microsoft.com/office/drawing/2014/main" id="{5AFB0528-4C5D-6231-603F-8D762F4DBA4B}"/>
              </a:ext>
            </a:extLst>
          </p:cNvPr>
          <p:cNvSpPr/>
          <p:nvPr/>
        </p:nvSpPr>
        <p:spPr>
          <a:xfrm>
            <a:off x="0" y="7705493"/>
            <a:ext cx="14630401" cy="524107"/>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IN"/>
          </a:p>
        </p:txBody>
      </p:sp>
      <p:graphicFrame>
        <p:nvGraphicFramePr>
          <p:cNvPr id="23" name="Table 22">
            <a:extLst>
              <a:ext uri="{FF2B5EF4-FFF2-40B4-BE49-F238E27FC236}">
                <a16:creationId xmlns:a16="http://schemas.microsoft.com/office/drawing/2014/main" id="{DA5E98A5-C81C-53CC-10D6-AAE8E02AE436}"/>
              </a:ext>
            </a:extLst>
          </p:cNvPr>
          <p:cNvGraphicFramePr>
            <a:graphicFrameLocks noGrp="1"/>
          </p:cNvGraphicFramePr>
          <p:nvPr>
            <p:extLst>
              <p:ext uri="{D42A27DB-BD31-4B8C-83A1-F6EECF244321}">
                <p14:modId xmlns:p14="http://schemas.microsoft.com/office/powerpoint/2010/main" val="1910708049"/>
              </p:ext>
            </p:extLst>
          </p:nvPr>
        </p:nvGraphicFramePr>
        <p:xfrm>
          <a:off x="1282388" y="1688789"/>
          <a:ext cx="12913112" cy="5135278"/>
        </p:xfrm>
        <a:graphic>
          <a:graphicData uri="http://schemas.openxmlformats.org/drawingml/2006/table">
            <a:tbl>
              <a:tblPr firstRow="1" bandRow="1">
                <a:tableStyleId>{7E9639D4-E3E2-4D34-9284-5A2195B3D0D7}</a:tableStyleId>
              </a:tblPr>
              <a:tblGrid>
                <a:gridCol w="3228278">
                  <a:extLst>
                    <a:ext uri="{9D8B030D-6E8A-4147-A177-3AD203B41FA5}">
                      <a16:colId xmlns:a16="http://schemas.microsoft.com/office/drawing/2014/main" val="3782131619"/>
                    </a:ext>
                  </a:extLst>
                </a:gridCol>
                <a:gridCol w="3228278">
                  <a:extLst>
                    <a:ext uri="{9D8B030D-6E8A-4147-A177-3AD203B41FA5}">
                      <a16:colId xmlns:a16="http://schemas.microsoft.com/office/drawing/2014/main" val="268963017"/>
                    </a:ext>
                  </a:extLst>
                </a:gridCol>
                <a:gridCol w="3228278">
                  <a:extLst>
                    <a:ext uri="{9D8B030D-6E8A-4147-A177-3AD203B41FA5}">
                      <a16:colId xmlns:a16="http://schemas.microsoft.com/office/drawing/2014/main" val="2378767241"/>
                    </a:ext>
                  </a:extLst>
                </a:gridCol>
                <a:gridCol w="3228278">
                  <a:extLst>
                    <a:ext uri="{9D8B030D-6E8A-4147-A177-3AD203B41FA5}">
                      <a16:colId xmlns:a16="http://schemas.microsoft.com/office/drawing/2014/main" val="3523609546"/>
                    </a:ext>
                  </a:extLst>
                </a:gridCol>
              </a:tblGrid>
              <a:tr h="932706">
                <a:tc>
                  <a:txBody>
                    <a:bodyPr/>
                    <a:lstStyle/>
                    <a:p>
                      <a:pPr algn="ctr"/>
                      <a:r>
                        <a:rPr lang="en-IN" dirty="0"/>
                        <a:t>Journal/Year</a:t>
                      </a:r>
                    </a:p>
                  </a:txBody>
                  <a:tcPr/>
                </a:tc>
                <a:tc>
                  <a:txBody>
                    <a:bodyPr/>
                    <a:lstStyle/>
                    <a:p>
                      <a:pPr algn="ctr"/>
                      <a:r>
                        <a:rPr lang="en-IN" dirty="0"/>
                        <a:t>Author</a:t>
                      </a:r>
                    </a:p>
                  </a:txBody>
                  <a:tcPr/>
                </a:tc>
                <a:tc>
                  <a:txBody>
                    <a:bodyPr/>
                    <a:lstStyle/>
                    <a:p>
                      <a:pPr algn="ctr"/>
                      <a:r>
                        <a:rPr lang="en-IN" dirty="0"/>
                        <a:t>Methodology</a:t>
                      </a:r>
                    </a:p>
                  </a:txBody>
                  <a:tcPr/>
                </a:tc>
                <a:tc>
                  <a:txBody>
                    <a:bodyPr/>
                    <a:lstStyle/>
                    <a:p>
                      <a:pPr algn="ctr"/>
                      <a:r>
                        <a:rPr lang="en-IN" dirty="0"/>
                        <a:t>Research Gap</a:t>
                      </a:r>
                    </a:p>
                  </a:txBody>
                  <a:tcPr/>
                </a:tc>
                <a:extLst>
                  <a:ext uri="{0D108BD9-81ED-4DB2-BD59-A6C34878D82A}">
                    <a16:rowId xmlns:a16="http://schemas.microsoft.com/office/drawing/2014/main" val="2708840369"/>
                  </a:ext>
                </a:extLst>
              </a:tr>
              <a:tr h="2017412">
                <a:tc>
                  <a:txBody>
                    <a:bodyPr/>
                    <a:lstStyle/>
                    <a:p>
                      <a:r>
                        <a:rPr lang="en-US" dirty="0">
                          <a:solidFill>
                            <a:schemeClr val="bg1"/>
                          </a:solidFill>
                        </a:rPr>
                        <a:t>International Journal of Research in Engineering Science and Management</a:t>
                      </a:r>
                      <a:r>
                        <a:rPr lang="en-IN" dirty="0">
                          <a:solidFill>
                            <a:schemeClr val="bg1"/>
                          </a:solidFill>
                        </a:rPr>
                        <a:t>, 2025</a:t>
                      </a:r>
                    </a:p>
                  </a:txBody>
                  <a:tcPr/>
                </a:tc>
                <a:tc>
                  <a:txBody>
                    <a:bodyPr/>
                    <a:lstStyle/>
                    <a:p>
                      <a:r>
                        <a:rPr lang="en-IN" dirty="0">
                          <a:solidFill>
                            <a:schemeClr val="bg1"/>
                          </a:solidFill>
                        </a:rPr>
                        <a:t>A. Sharma, R. Gupta, P. Verma</a:t>
                      </a:r>
                    </a:p>
                  </a:txBody>
                  <a:tcPr/>
                </a:tc>
                <a:tc>
                  <a:txBody>
                    <a:bodyPr/>
                    <a:lstStyle/>
                    <a:p>
                      <a:r>
                        <a:rPr lang="en-US" dirty="0">
                          <a:solidFill>
                            <a:schemeClr val="bg1"/>
                          </a:solidFill>
                        </a:rPr>
                        <a:t>NLP-based resume analysis and job matching</a:t>
                      </a:r>
                      <a:endParaRPr lang="en-IN" dirty="0">
                        <a:solidFill>
                          <a:schemeClr val="bg1"/>
                        </a:solidFill>
                      </a:endParaRPr>
                    </a:p>
                  </a:txBody>
                  <a:tcPr/>
                </a:tc>
                <a:tc>
                  <a:txBody>
                    <a:bodyPr/>
                    <a:lstStyle/>
                    <a:p>
                      <a:r>
                        <a:rPr lang="en-US" dirty="0">
                          <a:solidFill>
                            <a:schemeClr val="bg1"/>
                          </a:solidFill>
                        </a:rPr>
                        <a:t>Focuses only on resume screening, lacks full recruitment system</a:t>
                      </a:r>
                      <a:endParaRPr lang="en-IN" dirty="0">
                        <a:solidFill>
                          <a:schemeClr val="bg1"/>
                        </a:solidFill>
                      </a:endParaRPr>
                    </a:p>
                  </a:txBody>
                  <a:tcPr/>
                </a:tc>
                <a:extLst>
                  <a:ext uri="{0D108BD9-81ED-4DB2-BD59-A6C34878D82A}">
                    <a16:rowId xmlns:a16="http://schemas.microsoft.com/office/drawing/2014/main" val="182812545"/>
                  </a:ext>
                </a:extLst>
              </a:tr>
              <a:tr h="2185160">
                <a:tc>
                  <a:txBody>
                    <a:bodyPr/>
                    <a:lstStyle/>
                    <a:p>
                      <a:r>
                        <a:rPr lang="en-US" dirty="0">
                          <a:solidFill>
                            <a:schemeClr val="bg1"/>
                          </a:solidFill>
                        </a:rPr>
                        <a:t>Expert Systems with Applications (Elsevier)</a:t>
                      </a:r>
                      <a:r>
                        <a:rPr lang="en-IN" dirty="0">
                          <a:solidFill>
                            <a:schemeClr val="bg1"/>
                          </a:solidFill>
                        </a:rPr>
                        <a:t>, 2025</a:t>
                      </a:r>
                    </a:p>
                  </a:txBody>
                  <a:tcPr/>
                </a:tc>
                <a:tc>
                  <a:txBody>
                    <a:bodyPr/>
                    <a:lstStyle/>
                    <a:p>
                      <a:r>
                        <a:rPr lang="en-IN" dirty="0">
                          <a:solidFill>
                            <a:schemeClr val="bg1"/>
                          </a:solidFill>
                        </a:rPr>
                        <a:t>C. K. Weng</a:t>
                      </a:r>
                    </a:p>
                  </a:txBody>
                  <a:tcPr/>
                </a:tc>
                <a:tc>
                  <a:txBody>
                    <a:bodyPr/>
                    <a:lstStyle/>
                    <a:p>
                      <a:r>
                        <a:rPr lang="en-US" dirty="0">
                          <a:solidFill>
                            <a:schemeClr val="bg1"/>
                          </a:solidFill>
                        </a:rPr>
                        <a:t>LLM-based resume processing with chatbot interaction</a:t>
                      </a:r>
                      <a:endParaRPr lang="en-IN" dirty="0">
                        <a:solidFill>
                          <a:schemeClr val="bg1"/>
                        </a:solidFill>
                      </a:endParaRPr>
                    </a:p>
                  </a:txBody>
                  <a:tcPr/>
                </a:tc>
                <a:tc>
                  <a:txBody>
                    <a:bodyPr/>
                    <a:lstStyle/>
                    <a:p>
                      <a:r>
                        <a:rPr lang="en-US" dirty="0">
                          <a:solidFill>
                            <a:schemeClr val="bg1"/>
                          </a:solidFill>
                        </a:rPr>
                        <a:t>Limited evaluation metrics for candidate performance</a:t>
                      </a:r>
                      <a:endParaRPr lang="en-IN" dirty="0">
                        <a:solidFill>
                          <a:schemeClr val="bg1"/>
                        </a:solidFill>
                      </a:endParaRPr>
                    </a:p>
                  </a:txBody>
                  <a:tcPr/>
                </a:tc>
                <a:extLst>
                  <a:ext uri="{0D108BD9-81ED-4DB2-BD59-A6C34878D82A}">
                    <a16:rowId xmlns:a16="http://schemas.microsoft.com/office/drawing/2014/main" val="1979991553"/>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66E3EE-60EB-7B52-554B-FEC95D7A0216}"/>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91D38C22-B8B5-4B3F-6BF6-545EECEA9DC4}"/>
              </a:ext>
            </a:extLst>
          </p:cNvPr>
          <p:cNvSpPr/>
          <p:nvPr/>
        </p:nvSpPr>
        <p:spPr>
          <a:xfrm>
            <a:off x="793790" y="663893"/>
            <a:ext cx="4566880" cy="531614"/>
          </a:xfrm>
          <a:prstGeom prst="rect">
            <a:avLst/>
          </a:prstGeom>
          <a:noFill/>
          <a:ln/>
        </p:spPr>
        <p:txBody>
          <a:bodyPr wrap="none" lIns="0" tIns="0" rIns="0" bIns="0" rtlCol="0" anchor="t"/>
          <a:lstStyle/>
          <a:p>
            <a:pPr marL="0" indent="0" algn="l">
              <a:lnSpc>
                <a:spcPts val="4150"/>
              </a:lnSpc>
              <a:buNone/>
            </a:pPr>
            <a:r>
              <a:rPr lang="en-US" sz="3300" dirty="0">
                <a:solidFill>
                  <a:srgbClr val="F7F7F8"/>
                </a:solidFill>
                <a:latin typeface="DM Sans Medium" pitchFamily="34" charset="0"/>
                <a:ea typeface="DM Sans Medium" pitchFamily="34" charset="-122"/>
                <a:cs typeface="DM Sans Medium" pitchFamily="34" charset="-120"/>
              </a:rPr>
              <a:t>Literature Survey</a:t>
            </a:r>
            <a:endParaRPr lang="en-US" sz="3300" dirty="0"/>
          </a:p>
        </p:txBody>
      </p:sp>
      <p:sp>
        <p:nvSpPr>
          <p:cNvPr id="22" name="Rectangle 21">
            <a:extLst>
              <a:ext uri="{FF2B5EF4-FFF2-40B4-BE49-F238E27FC236}">
                <a16:creationId xmlns:a16="http://schemas.microsoft.com/office/drawing/2014/main" id="{C0547C6C-51D9-55BB-3EF9-C18947998313}"/>
              </a:ext>
            </a:extLst>
          </p:cNvPr>
          <p:cNvSpPr/>
          <p:nvPr/>
        </p:nvSpPr>
        <p:spPr>
          <a:xfrm>
            <a:off x="0" y="7705493"/>
            <a:ext cx="14630401" cy="524107"/>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IN"/>
          </a:p>
        </p:txBody>
      </p:sp>
      <p:graphicFrame>
        <p:nvGraphicFramePr>
          <p:cNvPr id="23" name="Table 22">
            <a:extLst>
              <a:ext uri="{FF2B5EF4-FFF2-40B4-BE49-F238E27FC236}">
                <a16:creationId xmlns:a16="http://schemas.microsoft.com/office/drawing/2014/main" id="{075CD284-0742-4E70-9BCE-23DFADE44697}"/>
              </a:ext>
            </a:extLst>
          </p:cNvPr>
          <p:cNvGraphicFramePr>
            <a:graphicFrameLocks noGrp="1"/>
          </p:cNvGraphicFramePr>
          <p:nvPr>
            <p:extLst>
              <p:ext uri="{D42A27DB-BD31-4B8C-83A1-F6EECF244321}">
                <p14:modId xmlns:p14="http://schemas.microsoft.com/office/powerpoint/2010/main" val="1815498456"/>
              </p:ext>
            </p:extLst>
          </p:nvPr>
        </p:nvGraphicFramePr>
        <p:xfrm>
          <a:off x="1282388" y="1688789"/>
          <a:ext cx="12913112" cy="5135278"/>
        </p:xfrm>
        <a:graphic>
          <a:graphicData uri="http://schemas.openxmlformats.org/drawingml/2006/table">
            <a:tbl>
              <a:tblPr firstRow="1" bandRow="1">
                <a:tableStyleId>{7E9639D4-E3E2-4D34-9284-5A2195B3D0D7}</a:tableStyleId>
              </a:tblPr>
              <a:tblGrid>
                <a:gridCol w="3228278">
                  <a:extLst>
                    <a:ext uri="{9D8B030D-6E8A-4147-A177-3AD203B41FA5}">
                      <a16:colId xmlns:a16="http://schemas.microsoft.com/office/drawing/2014/main" val="3782131619"/>
                    </a:ext>
                  </a:extLst>
                </a:gridCol>
                <a:gridCol w="3228278">
                  <a:extLst>
                    <a:ext uri="{9D8B030D-6E8A-4147-A177-3AD203B41FA5}">
                      <a16:colId xmlns:a16="http://schemas.microsoft.com/office/drawing/2014/main" val="268963017"/>
                    </a:ext>
                  </a:extLst>
                </a:gridCol>
                <a:gridCol w="3228278">
                  <a:extLst>
                    <a:ext uri="{9D8B030D-6E8A-4147-A177-3AD203B41FA5}">
                      <a16:colId xmlns:a16="http://schemas.microsoft.com/office/drawing/2014/main" val="2378767241"/>
                    </a:ext>
                  </a:extLst>
                </a:gridCol>
                <a:gridCol w="3228278">
                  <a:extLst>
                    <a:ext uri="{9D8B030D-6E8A-4147-A177-3AD203B41FA5}">
                      <a16:colId xmlns:a16="http://schemas.microsoft.com/office/drawing/2014/main" val="3523609546"/>
                    </a:ext>
                  </a:extLst>
                </a:gridCol>
              </a:tblGrid>
              <a:tr h="932706">
                <a:tc>
                  <a:txBody>
                    <a:bodyPr/>
                    <a:lstStyle/>
                    <a:p>
                      <a:pPr algn="ctr"/>
                      <a:r>
                        <a:rPr lang="en-IN" dirty="0"/>
                        <a:t>Journal/Year</a:t>
                      </a:r>
                    </a:p>
                  </a:txBody>
                  <a:tcPr/>
                </a:tc>
                <a:tc>
                  <a:txBody>
                    <a:bodyPr/>
                    <a:lstStyle/>
                    <a:p>
                      <a:pPr algn="ctr"/>
                      <a:r>
                        <a:rPr lang="en-IN" dirty="0"/>
                        <a:t>Author</a:t>
                      </a:r>
                    </a:p>
                  </a:txBody>
                  <a:tcPr/>
                </a:tc>
                <a:tc>
                  <a:txBody>
                    <a:bodyPr/>
                    <a:lstStyle/>
                    <a:p>
                      <a:pPr algn="ctr"/>
                      <a:r>
                        <a:rPr lang="en-IN" dirty="0"/>
                        <a:t>Methodology</a:t>
                      </a:r>
                    </a:p>
                  </a:txBody>
                  <a:tcPr/>
                </a:tc>
                <a:tc>
                  <a:txBody>
                    <a:bodyPr/>
                    <a:lstStyle/>
                    <a:p>
                      <a:pPr algn="ctr"/>
                      <a:r>
                        <a:rPr lang="en-IN" dirty="0"/>
                        <a:t>Research Gap</a:t>
                      </a:r>
                    </a:p>
                  </a:txBody>
                  <a:tcPr/>
                </a:tc>
                <a:extLst>
                  <a:ext uri="{0D108BD9-81ED-4DB2-BD59-A6C34878D82A}">
                    <a16:rowId xmlns:a16="http://schemas.microsoft.com/office/drawing/2014/main" val="2708840369"/>
                  </a:ext>
                </a:extLst>
              </a:tr>
              <a:tr h="2017412">
                <a:tc>
                  <a:txBody>
                    <a:bodyPr/>
                    <a:lstStyle/>
                    <a:p>
                      <a:r>
                        <a:rPr lang="en-IN" dirty="0">
                          <a:solidFill>
                            <a:schemeClr val="bg1"/>
                          </a:solidFill>
                        </a:rPr>
                        <a:t>ResearchGate Publication, 2025</a:t>
                      </a:r>
                    </a:p>
                  </a:txBody>
                  <a:tcPr/>
                </a:tc>
                <a:tc>
                  <a:txBody>
                    <a:bodyPr/>
                    <a:lstStyle/>
                    <a:p>
                      <a:r>
                        <a:rPr lang="en-IN" dirty="0">
                          <a:solidFill>
                            <a:schemeClr val="bg1"/>
                          </a:solidFill>
                        </a:rPr>
                        <a:t>Moses Blessing</a:t>
                      </a:r>
                    </a:p>
                  </a:txBody>
                  <a:tcPr/>
                </a:tc>
                <a:tc>
                  <a:txBody>
                    <a:bodyPr/>
                    <a:lstStyle/>
                    <a:p>
                      <a:r>
                        <a:rPr lang="en-US" dirty="0">
                          <a:solidFill>
                            <a:schemeClr val="bg1"/>
                          </a:solidFill>
                        </a:rPr>
                        <a:t>AI-driven recruitment using NLP and predictive analytics</a:t>
                      </a:r>
                      <a:endParaRPr lang="en-IN" dirty="0">
                        <a:solidFill>
                          <a:schemeClr val="bg1"/>
                        </a:solidFill>
                      </a:endParaRPr>
                    </a:p>
                  </a:txBody>
                  <a:tcPr/>
                </a:tc>
                <a:tc>
                  <a:txBody>
                    <a:bodyPr/>
                    <a:lstStyle/>
                    <a:p>
                      <a:r>
                        <a:rPr lang="en-US" dirty="0">
                          <a:solidFill>
                            <a:schemeClr val="bg1"/>
                          </a:solidFill>
                        </a:rPr>
                        <a:t>Bias and fairness issues not fully addressed</a:t>
                      </a:r>
                      <a:endParaRPr lang="en-IN" dirty="0">
                        <a:solidFill>
                          <a:schemeClr val="bg1"/>
                        </a:solidFill>
                      </a:endParaRPr>
                    </a:p>
                  </a:txBody>
                  <a:tcPr/>
                </a:tc>
                <a:extLst>
                  <a:ext uri="{0D108BD9-81ED-4DB2-BD59-A6C34878D82A}">
                    <a16:rowId xmlns:a16="http://schemas.microsoft.com/office/drawing/2014/main" val="182812545"/>
                  </a:ext>
                </a:extLst>
              </a:tr>
              <a:tr h="2185160">
                <a:tc>
                  <a:txBody>
                    <a:bodyPr/>
                    <a:lstStyle/>
                    <a:p>
                      <a:r>
                        <a:rPr lang="en-IN" dirty="0">
                          <a:solidFill>
                            <a:schemeClr val="bg1"/>
                          </a:solidFill>
                        </a:rPr>
                        <a:t>Decision Analytics Journal (Elsevier), 2025</a:t>
                      </a:r>
                    </a:p>
                  </a:txBody>
                  <a:tcPr/>
                </a:tc>
                <a:tc>
                  <a:txBody>
                    <a:bodyPr/>
                    <a:lstStyle/>
                    <a:p>
                      <a:r>
                        <a:rPr lang="en-IN" dirty="0">
                          <a:solidFill>
                            <a:schemeClr val="bg1"/>
                          </a:solidFill>
                        </a:rPr>
                        <a:t>D. Kumar, S. Singh</a:t>
                      </a:r>
                    </a:p>
                  </a:txBody>
                  <a:tcPr/>
                </a:tc>
                <a:tc>
                  <a:txBody>
                    <a:bodyPr/>
                    <a:lstStyle/>
                    <a:p>
                      <a:r>
                        <a:rPr lang="en-IN" dirty="0">
                          <a:solidFill>
                            <a:schemeClr val="bg1"/>
                          </a:solidFill>
                        </a:rPr>
                        <a:t>I</a:t>
                      </a:r>
                      <a:r>
                        <a:rPr lang="en-US" dirty="0">
                          <a:solidFill>
                            <a:schemeClr val="bg1"/>
                          </a:solidFill>
                        </a:rPr>
                        <a:t>Fairness-aware ML and Explainable AI (XAI)</a:t>
                      </a:r>
                      <a:endParaRPr lang="en-IN" dirty="0">
                        <a:solidFill>
                          <a:schemeClr val="bg1"/>
                        </a:solidFill>
                      </a:endParaRPr>
                    </a:p>
                  </a:txBody>
                  <a:tcPr/>
                </a:tc>
                <a:tc>
                  <a:txBody>
                    <a:bodyPr/>
                    <a:lstStyle/>
                    <a:p>
                      <a:r>
                        <a:rPr lang="en-US" dirty="0">
                          <a:solidFill>
                            <a:schemeClr val="bg1"/>
                          </a:solidFill>
                        </a:rPr>
                        <a:t>No complete system integration (resume + interview)</a:t>
                      </a:r>
                      <a:endParaRPr lang="en-IN" dirty="0">
                        <a:solidFill>
                          <a:schemeClr val="bg1"/>
                        </a:solidFill>
                      </a:endParaRPr>
                    </a:p>
                  </a:txBody>
                  <a:tcPr/>
                </a:tc>
                <a:extLst>
                  <a:ext uri="{0D108BD9-81ED-4DB2-BD59-A6C34878D82A}">
                    <a16:rowId xmlns:a16="http://schemas.microsoft.com/office/drawing/2014/main" val="1979991553"/>
                  </a:ext>
                </a:extLst>
              </a:tr>
            </a:tbl>
          </a:graphicData>
        </a:graphic>
      </p:graphicFrame>
    </p:spTree>
    <p:extLst>
      <p:ext uri="{BB962C8B-B14F-4D97-AF65-F5344CB8AC3E}">
        <p14:creationId xmlns:p14="http://schemas.microsoft.com/office/powerpoint/2010/main" val="27200424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942023"/>
            <a:ext cx="7823716" cy="708779"/>
          </a:xfrm>
          <a:prstGeom prst="rect">
            <a:avLst/>
          </a:prstGeom>
          <a:noFill/>
          <a:ln/>
        </p:spPr>
        <p:txBody>
          <a:bodyPr wrap="none" lIns="0" tIns="0" rIns="0" bIns="0" rtlCol="0" anchor="t"/>
          <a:lstStyle/>
          <a:p>
            <a:pPr marL="0" indent="0" algn="l">
              <a:lnSpc>
                <a:spcPts val="5550"/>
              </a:lnSpc>
              <a:buNone/>
            </a:pPr>
            <a:r>
              <a:rPr lang="en-US" sz="4450" dirty="0">
                <a:solidFill>
                  <a:srgbClr val="F7F7F8"/>
                </a:solidFill>
                <a:latin typeface="DM Sans Medium" pitchFamily="34" charset="0"/>
                <a:ea typeface="DM Sans Medium" pitchFamily="34" charset="-122"/>
                <a:cs typeface="DM Sans Medium" pitchFamily="34" charset="-120"/>
              </a:rPr>
              <a:t>Existing Overview</a:t>
            </a:r>
            <a:endParaRPr lang="en-US" sz="4450" dirty="0"/>
          </a:p>
        </p:txBody>
      </p:sp>
      <p:sp>
        <p:nvSpPr>
          <p:cNvPr id="5" name="Text 3"/>
          <p:cNvSpPr/>
          <p:nvPr/>
        </p:nvSpPr>
        <p:spPr>
          <a:xfrm>
            <a:off x="793790" y="2914650"/>
            <a:ext cx="3898702" cy="1472089"/>
          </a:xfrm>
          <a:prstGeom prst="rect">
            <a:avLst/>
          </a:prstGeom>
          <a:noFill/>
          <a:ln/>
        </p:spPr>
        <p:txBody>
          <a:bodyPr wrap="square" lIns="0" tIns="0" rIns="0" bIns="0" rtlCol="0" anchor="t"/>
          <a:lstStyle/>
          <a:p>
            <a:pPr marL="0" indent="0">
              <a:lnSpc>
                <a:spcPts val="2850"/>
              </a:lnSpc>
              <a:buNone/>
            </a:pPr>
            <a:r>
              <a:rPr lang="en-US" sz="1750" dirty="0">
                <a:solidFill>
                  <a:srgbClr val="D6D9D7"/>
                </a:solidFill>
                <a:latin typeface="Inter" pitchFamily="34" charset="0"/>
                <a:ea typeface="Inter" pitchFamily="34" charset="-122"/>
                <a:cs typeface="Inter" pitchFamily="34" charset="-120"/>
              </a:rPr>
              <a:t>Recruitment is mainly done through manual resume screening by HR teams..</a:t>
            </a:r>
            <a:endParaRPr lang="en-US" sz="1750" dirty="0"/>
          </a:p>
        </p:txBody>
      </p:sp>
      <p:pic>
        <p:nvPicPr>
          <p:cNvPr id="6" name="Image 0" descr="preencoded.png"/>
          <p:cNvPicPr>
            <a:picLocks noChangeAspect="1"/>
          </p:cNvPicPr>
          <p:nvPr/>
        </p:nvPicPr>
        <p:blipFill>
          <a:blip r:embed="rId3"/>
          <a:stretch>
            <a:fillRect/>
          </a:stretch>
        </p:blipFill>
        <p:spPr>
          <a:xfrm>
            <a:off x="5032653" y="2722483"/>
            <a:ext cx="4564975" cy="4564975"/>
          </a:xfrm>
          <a:prstGeom prst="rect">
            <a:avLst/>
          </a:prstGeom>
        </p:spPr>
      </p:pic>
      <p:pic>
        <p:nvPicPr>
          <p:cNvPr id="7" name="Image 1" descr="preencoded.png"/>
          <p:cNvPicPr>
            <a:picLocks noChangeAspect="1"/>
          </p:cNvPicPr>
          <p:nvPr/>
        </p:nvPicPr>
        <p:blipFill>
          <a:blip r:embed="rId4"/>
          <a:stretch>
            <a:fillRect/>
          </a:stretch>
        </p:blipFill>
        <p:spPr>
          <a:xfrm>
            <a:off x="6226731" y="3485555"/>
            <a:ext cx="339328" cy="424220"/>
          </a:xfrm>
          <a:prstGeom prst="rect">
            <a:avLst/>
          </a:prstGeom>
        </p:spPr>
      </p:pic>
      <p:sp>
        <p:nvSpPr>
          <p:cNvPr id="9" name="Text 5"/>
          <p:cNvSpPr/>
          <p:nvPr/>
        </p:nvSpPr>
        <p:spPr>
          <a:xfrm>
            <a:off x="9937790" y="3162300"/>
            <a:ext cx="3898821" cy="1224439"/>
          </a:xfrm>
          <a:prstGeom prst="rect">
            <a:avLst/>
          </a:prstGeom>
          <a:noFill/>
          <a:ln/>
        </p:spPr>
        <p:txBody>
          <a:bodyPr wrap="square" lIns="0" tIns="0" rIns="0" bIns="0" rtlCol="0" anchor="t"/>
          <a:lstStyle/>
          <a:p>
            <a:pPr marL="0" indent="0" algn="l">
              <a:lnSpc>
                <a:spcPts val="2850"/>
              </a:lnSpc>
              <a:buNone/>
            </a:pPr>
            <a:r>
              <a:rPr lang="en-US" sz="1750" dirty="0">
                <a:solidFill>
                  <a:srgbClr val="D6D9D7"/>
                </a:solidFill>
                <a:latin typeface="Inter" pitchFamily="34" charset="0"/>
                <a:ea typeface="Inter" pitchFamily="34" charset="-122"/>
                <a:cs typeface="Inter" pitchFamily="34" charset="-120"/>
              </a:rPr>
              <a:t>Interviews are conducted manually, requiring significant time and coordination.</a:t>
            </a:r>
            <a:endParaRPr lang="en-US" sz="1750" dirty="0"/>
          </a:p>
        </p:txBody>
      </p:sp>
      <p:pic>
        <p:nvPicPr>
          <p:cNvPr id="10" name="Image 2" descr="preencoded.png"/>
          <p:cNvPicPr>
            <a:picLocks noChangeAspect="1"/>
          </p:cNvPicPr>
          <p:nvPr/>
        </p:nvPicPr>
        <p:blipFill>
          <a:blip r:embed="rId5"/>
          <a:stretch>
            <a:fillRect/>
          </a:stretch>
        </p:blipFill>
        <p:spPr>
          <a:xfrm>
            <a:off x="5032653" y="2722483"/>
            <a:ext cx="4564975" cy="4564975"/>
          </a:xfrm>
          <a:prstGeom prst="rect">
            <a:avLst/>
          </a:prstGeom>
        </p:spPr>
      </p:pic>
      <p:pic>
        <p:nvPicPr>
          <p:cNvPr id="11" name="Image 3" descr="preencoded.png"/>
          <p:cNvPicPr>
            <a:picLocks noChangeAspect="1"/>
          </p:cNvPicPr>
          <p:nvPr/>
        </p:nvPicPr>
        <p:blipFill>
          <a:blip r:embed="rId6"/>
          <a:stretch>
            <a:fillRect/>
          </a:stretch>
        </p:blipFill>
        <p:spPr>
          <a:xfrm>
            <a:off x="8452604" y="3874056"/>
            <a:ext cx="339328" cy="424220"/>
          </a:xfrm>
          <a:prstGeom prst="rect">
            <a:avLst/>
          </a:prstGeom>
        </p:spPr>
      </p:pic>
      <p:sp>
        <p:nvSpPr>
          <p:cNvPr id="13" name="Text 7"/>
          <p:cNvSpPr/>
          <p:nvPr/>
        </p:nvSpPr>
        <p:spPr>
          <a:xfrm>
            <a:off x="9937790" y="5614870"/>
            <a:ext cx="3898821" cy="1224438"/>
          </a:xfrm>
          <a:prstGeom prst="rect">
            <a:avLst/>
          </a:prstGeom>
          <a:noFill/>
          <a:ln/>
        </p:spPr>
        <p:txBody>
          <a:bodyPr wrap="square" lIns="0" tIns="0" rIns="0" bIns="0" rtlCol="0" anchor="t"/>
          <a:lstStyle/>
          <a:p>
            <a:pPr marL="0" indent="0" algn="l">
              <a:lnSpc>
                <a:spcPts val="2850"/>
              </a:lnSpc>
              <a:buNone/>
            </a:pPr>
            <a:r>
              <a:rPr lang="en-US" sz="1750" dirty="0">
                <a:solidFill>
                  <a:srgbClr val="D6D9D7"/>
                </a:solidFill>
                <a:latin typeface="Inter" pitchFamily="34" charset="0"/>
                <a:ea typeface="Inter" pitchFamily="34" charset="-122"/>
                <a:cs typeface="Inter" pitchFamily="34" charset="-120"/>
              </a:rPr>
              <a:t>Existing systems lack automation, real-time evaluation, and intelligent decision-making capabilities.</a:t>
            </a:r>
            <a:endParaRPr lang="en-US" sz="1750" dirty="0"/>
          </a:p>
        </p:txBody>
      </p:sp>
      <p:pic>
        <p:nvPicPr>
          <p:cNvPr id="14" name="Image 4" descr="preencoded.png"/>
          <p:cNvPicPr>
            <a:picLocks noChangeAspect="1"/>
          </p:cNvPicPr>
          <p:nvPr/>
        </p:nvPicPr>
        <p:blipFill>
          <a:blip r:embed="rId7"/>
          <a:stretch>
            <a:fillRect/>
          </a:stretch>
        </p:blipFill>
        <p:spPr>
          <a:xfrm>
            <a:off x="5032653" y="2722483"/>
            <a:ext cx="4564975" cy="4564975"/>
          </a:xfrm>
          <a:prstGeom prst="rect">
            <a:avLst/>
          </a:prstGeom>
        </p:spPr>
      </p:pic>
      <p:pic>
        <p:nvPicPr>
          <p:cNvPr id="15" name="Image 5" descr="preencoded.png"/>
          <p:cNvPicPr>
            <a:picLocks noChangeAspect="1"/>
          </p:cNvPicPr>
          <p:nvPr/>
        </p:nvPicPr>
        <p:blipFill>
          <a:blip r:embed="rId8"/>
          <a:stretch>
            <a:fillRect/>
          </a:stretch>
        </p:blipFill>
        <p:spPr>
          <a:xfrm>
            <a:off x="8064103" y="6099929"/>
            <a:ext cx="339328" cy="424220"/>
          </a:xfrm>
          <a:prstGeom prst="rect">
            <a:avLst/>
          </a:prstGeom>
        </p:spPr>
      </p:pic>
      <p:sp>
        <p:nvSpPr>
          <p:cNvPr id="17" name="Text 9"/>
          <p:cNvSpPr/>
          <p:nvPr/>
        </p:nvSpPr>
        <p:spPr>
          <a:xfrm>
            <a:off x="793790" y="5623085"/>
            <a:ext cx="4238863" cy="1216222"/>
          </a:xfrm>
          <a:prstGeom prst="rect">
            <a:avLst/>
          </a:prstGeom>
          <a:noFill/>
          <a:ln/>
        </p:spPr>
        <p:txBody>
          <a:bodyPr wrap="none" lIns="0" tIns="0" rIns="0" bIns="0" rtlCol="0" anchor="t"/>
          <a:lstStyle/>
          <a:p>
            <a:pPr marL="0" indent="0">
              <a:lnSpc>
                <a:spcPts val="2850"/>
              </a:lnSpc>
              <a:buNone/>
            </a:pPr>
            <a:r>
              <a:rPr lang="en-US" sz="1750" dirty="0">
                <a:solidFill>
                  <a:srgbClr val="D6D9D7"/>
                </a:solidFill>
                <a:latin typeface="Inter" pitchFamily="34" charset="0"/>
                <a:ea typeface="Inter" pitchFamily="34" charset="-122"/>
                <a:cs typeface="Inter" pitchFamily="34" charset="-120"/>
              </a:rPr>
              <a:t>Shortlisting candidates depends on</a:t>
            </a:r>
          </a:p>
          <a:p>
            <a:pPr marL="0" indent="0">
              <a:lnSpc>
                <a:spcPts val="2850"/>
              </a:lnSpc>
              <a:buNone/>
            </a:pPr>
            <a:r>
              <a:rPr lang="en-US" sz="1750" dirty="0">
                <a:solidFill>
                  <a:srgbClr val="D6D9D7"/>
                </a:solidFill>
                <a:latin typeface="Inter" pitchFamily="34" charset="0"/>
                <a:ea typeface="Inter" pitchFamily="34" charset="-122"/>
                <a:cs typeface="Inter" pitchFamily="34" charset="-120"/>
              </a:rPr>
              <a:t> human judgment, leading to bias </a:t>
            </a:r>
          </a:p>
          <a:p>
            <a:pPr marL="0" indent="0">
              <a:lnSpc>
                <a:spcPts val="2850"/>
              </a:lnSpc>
              <a:buNone/>
            </a:pPr>
            <a:r>
              <a:rPr lang="en-US" sz="1750" dirty="0">
                <a:solidFill>
                  <a:srgbClr val="D6D9D7"/>
                </a:solidFill>
                <a:latin typeface="Inter" pitchFamily="34" charset="0"/>
                <a:ea typeface="Inter" pitchFamily="34" charset="-122"/>
                <a:cs typeface="Inter" pitchFamily="34" charset="-120"/>
              </a:rPr>
              <a:t>and inconsistency.</a:t>
            </a:r>
            <a:endParaRPr lang="en-US" sz="1750" dirty="0"/>
          </a:p>
        </p:txBody>
      </p:sp>
      <p:pic>
        <p:nvPicPr>
          <p:cNvPr id="18" name="Image 6" descr="preencoded.png"/>
          <p:cNvPicPr>
            <a:picLocks noChangeAspect="1"/>
          </p:cNvPicPr>
          <p:nvPr/>
        </p:nvPicPr>
        <p:blipFill>
          <a:blip r:embed="rId9"/>
          <a:stretch>
            <a:fillRect/>
          </a:stretch>
        </p:blipFill>
        <p:spPr>
          <a:xfrm>
            <a:off x="5032653" y="2722483"/>
            <a:ext cx="4564975" cy="4564975"/>
          </a:xfrm>
          <a:prstGeom prst="rect">
            <a:avLst/>
          </a:prstGeom>
        </p:spPr>
      </p:pic>
      <p:pic>
        <p:nvPicPr>
          <p:cNvPr id="19" name="Image 7" descr="preencoded.png"/>
          <p:cNvPicPr>
            <a:picLocks noChangeAspect="1"/>
          </p:cNvPicPr>
          <p:nvPr/>
        </p:nvPicPr>
        <p:blipFill>
          <a:blip r:embed="rId10"/>
          <a:stretch>
            <a:fillRect/>
          </a:stretch>
        </p:blipFill>
        <p:spPr>
          <a:xfrm>
            <a:off x="5838230" y="5711428"/>
            <a:ext cx="339328" cy="424220"/>
          </a:xfrm>
          <a:prstGeom prst="rect">
            <a:avLst/>
          </a:prstGeom>
        </p:spPr>
      </p:pic>
      <p:sp>
        <p:nvSpPr>
          <p:cNvPr id="20" name="Rectangle 19">
            <a:extLst>
              <a:ext uri="{FF2B5EF4-FFF2-40B4-BE49-F238E27FC236}">
                <a16:creationId xmlns:a16="http://schemas.microsoft.com/office/drawing/2014/main" id="{EDE914BE-51F8-9A6B-03C1-B592E0C1DFB1}"/>
              </a:ext>
            </a:extLst>
          </p:cNvPr>
          <p:cNvSpPr/>
          <p:nvPr/>
        </p:nvSpPr>
        <p:spPr>
          <a:xfrm>
            <a:off x="0" y="7705493"/>
            <a:ext cx="14630401" cy="524107"/>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IN"/>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36C23F-1D34-C1D2-36C0-F361BEC1960E}"/>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CDEBA253-FCBC-7F12-4808-2555AC6DE61C}"/>
              </a:ext>
            </a:extLst>
          </p:cNvPr>
          <p:cNvSpPr/>
          <p:nvPr/>
        </p:nvSpPr>
        <p:spPr>
          <a:xfrm>
            <a:off x="793790" y="942023"/>
            <a:ext cx="7823716" cy="708779"/>
          </a:xfrm>
          <a:prstGeom prst="rect">
            <a:avLst/>
          </a:prstGeom>
          <a:noFill/>
          <a:ln/>
        </p:spPr>
        <p:txBody>
          <a:bodyPr wrap="none" lIns="0" tIns="0" rIns="0" bIns="0" rtlCol="0" anchor="t"/>
          <a:lstStyle/>
          <a:p>
            <a:pPr marL="0" indent="0" algn="l">
              <a:lnSpc>
                <a:spcPts val="5550"/>
              </a:lnSpc>
              <a:buNone/>
            </a:pPr>
            <a:r>
              <a:rPr lang="en-US" sz="4450" dirty="0">
                <a:solidFill>
                  <a:srgbClr val="F7F7F8"/>
                </a:solidFill>
                <a:latin typeface="DM Sans Medium" pitchFamily="34" charset="0"/>
                <a:ea typeface="DM Sans Medium" pitchFamily="34" charset="-122"/>
                <a:cs typeface="DM Sans Medium" pitchFamily="34" charset="-120"/>
              </a:rPr>
              <a:t>Proposed Overview</a:t>
            </a:r>
            <a:endParaRPr lang="en-US" sz="4450" dirty="0"/>
          </a:p>
        </p:txBody>
      </p:sp>
      <p:sp>
        <p:nvSpPr>
          <p:cNvPr id="5" name="Text 3">
            <a:extLst>
              <a:ext uri="{FF2B5EF4-FFF2-40B4-BE49-F238E27FC236}">
                <a16:creationId xmlns:a16="http://schemas.microsoft.com/office/drawing/2014/main" id="{0C0A27AC-8CBB-B794-51EA-BE9550D61130}"/>
              </a:ext>
            </a:extLst>
          </p:cNvPr>
          <p:cNvSpPr/>
          <p:nvPr/>
        </p:nvSpPr>
        <p:spPr>
          <a:xfrm>
            <a:off x="793790" y="2914650"/>
            <a:ext cx="3898702" cy="1472089"/>
          </a:xfrm>
          <a:prstGeom prst="rect">
            <a:avLst/>
          </a:prstGeom>
          <a:noFill/>
          <a:ln/>
        </p:spPr>
        <p:txBody>
          <a:bodyPr wrap="square" lIns="0" tIns="0" rIns="0" bIns="0" rtlCol="0" anchor="t"/>
          <a:lstStyle/>
          <a:p>
            <a:pPr marL="0" indent="0">
              <a:lnSpc>
                <a:spcPts val="2850"/>
              </a:lnSpc>
              <a:buNone/>
            </a:pPr>
            <a:r>
              <a:rPr lang="en-US" sz="1750" dirty="0">
                <a:solidFill>
                  <a:srgbClr val="D6D9D7"/>
                </a:solidFill>
                <a:latin typeface="Inter" pitchFamily="34" charset="0"/>
                <a:ea typeface="Inter" pitchFamily="34" charset="-122"/>
                <a:cs typeface="Inter" pitchFamily="34" charset="-120"/>
              </a:rPr>
              <a:t>An AI-based system automatically analyzes and ranks resumes based on skills and job requirements.</a:t>
            </a:r>
            <a:endParaRPr lang="en-US" sz="1750" dirty="0"/>
          </a:p>
        </p:txBody>
      </p:sp>
      <p:pic>
        <p:nvPicPr>
          <p:cNvPr id="6" name="Image 0" descr="preencoded.png">
            <a:extLst>
              <a:ext uri="{FF2B5EF4-FFF2-40B4-BE49-F238E27FC236}">
                <a16:creationId xmlns:a16="http://schemas.microsoft.com/office/drawing/2014/main" id="{D1F7A976-2F57-B045-6B5A-D5CC235F4216}"/>
              </a:ext>
            </a:extLst>
          </p:cNvPr>
          <p:cNvPicPr>
            <a:picLocks noChangeAspect="1"/>
          </p:cNvPicPr>
          <p:nvPr/>
        </p:nvPicPr>
        <p:blipFill>
          <a:blip r:embed="rId3"/>
          <a:stretch>
            <a:fillRect/>
          </a:stretch>
        </p:blipFill>
        <p:spPr>
          <a:xfrm>
            <a:off x="5032653" y="2722483"/>
            <a:ext cx="4564975" cy="4564975"/>
          </a:xfrm>
          <a:prstGeom prst="rect">
            <a:avLst/>
          </a:prstGeom>
        </p:spPr>
      </p:pic>
      <p:pic>
        <p:nvPicPr>
          <p:cNvPr id="7" name="Image 1" descr="preencoded.png">
            <a:extLst>
              <a:ext uri="{FF2B5EF4-FFF2-40B4-BE49-F238E27FC236}">
                <a16:creationId xmlns:a16="http://schemas.microsoft.com/office/drawing/2014/main" id="{C4D3AB17-1064-D489-E730-B1D587CC4028}"/>
              </a:ext>
            </a:extLst>
          </p:cNvPr>
          <p:cNvPicPr>
            <a:picLocks noChangeAspect="1"/>
          </p:cNvPicPr>
          <p:nvPr/>
        </p:nvPicPr>
        <p:blipFill>
          <a:blip r:embed="rId4"/>
          <a:stretch>
            <a:fillRect/>
          </a:stretch>
        </p:blipFill>
        <p:spPr>
          <a:xfrm>
            <a:off x="6226731" y="3485555"/>
            <a:ext cx="339328" cy="424220"/>
          </a:xfrm>
          <a:prstGeom prst="rect">
            <a:avLst/>
          </a:prstGeom>
        </p:spPr>
      </p:pic>
      <p:sp>
        <p:nvSpPr>
          <p:cNvPr id="9" name="Text 5">
            <a:extLst>
              <a:ext uri="{FF2B5EF4-FFF2-40B4-BE49-F238E27FC236}">
                <a16:creationId xmlns:a16="http://schemas.microsoft.com/office/drawing/2014/main" id="{AC051EBD-5914-7C2B-4370-16215B0DA616}"/>
              </a:ext>
            </a:extLst>
          </p:cNvPr>
          <p:cNvSpPr/>
          <p:nvPr/>
        </p:nvSpPr>
        <p:spPr>
          <a:xfrm>
            <a:off x="9937790" y="3162300"/>
            <a:ext cx="3898821" cy="1224439"/>
          </a:xfrm>
          <a:prstGeom prst="rect">
            <a:avLst/>
          </a:prstGeom>
          <a:noFill/>
          <a:ln/>
        </p:spPr>
        <p:txBody>
          <a:bodyPr wrap="square" lIns="0" tIns="0" rIns="0" bIns="0" rtlCol="0" anchor="t"/>
          <a:lstStyle/>
          <a:p>
            <a:pPr marL="0" indent="0" algn="l">
              <a:lnSpc>
                <a:spcPts val="2850"/>
              </a:lnSpc>
              <a:buNone/>
            </a:pPr>
            <a:r>
              <a:rPr lang="en-US" sz="1750" dirty="0">
                <a:solidFill>
                  <a:srgbClr val="D6D9D7"/>
                </a:solidFill>
                <a:latin typeface="Inter" pitchFamily="34" charset="0"/>
                <a:ea typeface="Inter" pitchFamily="34" charset="-122"/>
                <a:cs typeface="Inter" pitchFamily="34" charset="-120"/>
              </a:rPr>
              <a:t>NLP techniques evaluate candidate responses in real time for accuracy and relevance.</a:t>
            </a:r>
            <a:endParaRPr lang="en-US" sz="1750" dirty="0"/>
          </a:p>
        </p:txBody>
      </p:sp>
      <p:pic>
        <p:nvPicPr>
          <p:cNvPr id="10" name="Image 2" descr="preencoded.png">
            <a:extLst>
              <a:ext uri="{FF2B5EF4-FFF2-40B4-BE49-F238E27FC236}">
                <a16:creationId xmlns:a16="http://schemas.microsoft.com/office/drawing/2014/main" id="{18B0A520-5E13-83ED-0189-A4AE8D6D1B60}"/>
              </a:ext>
            </a:extLst>
          </p:cNvPr>
          <p:cNvPicPr>
            <a:picLocks noChangeAspect="1"/>
          </p:cNvPicPr>
          <p:nvPr/>
        </p:nvPicPr>
        <p:blipFill>
          <a:blip r:embed="rId5"/>
          <a:stretch>
            <a:fillRect/>
          </a:stretch>
        </p:blipFill>
        <p:spPr>
          <a:xfrm>
            <a:off x="5032653" y="2722483"/>
            <a:ext cx="4564975" cy="4564975"/>
          </a:xfrm>
          <a:prstGeom prst="rect">
            <a:avLst/>
          </a:prstGeom>
        </p:spPr>
      </p:pic>
      <p:pic>
        <p:nvPicPr>
          <p:cNvPr id="11" name="Image 3" descr="preencoded.png">
            <a:extLst>
              <a:ext uri="{FF2B5EF4-FFF2-40B4-BE49-F238E27FC236}">
                <a16:creationId xmlns:a16="http://schemas.microsoft.com/office/drawing/2014/main" id="{657A0309-AF62-7B0F-5D15-83DA0F91CD1E}"/>
              </a:ext>
            </a:extLst>
          </p:cNvPr>
          <p:cNvPicPr>
            <a:picLocks noChangeAspect="1"/>
          </p:cNvPicPr>
          <p:nvPr/>
        </p:nvPicPr>
        <p:blipFill>
          <a:blip r:embed="rId6"/>
          <a:stretch>
            <a:fillRect/>
          </a:stretch>
        </p:blipFill>
        <p:spPr>
          <a:xfrm>
            <a:off x="8452604" y="3874056"/>
            <a:ext cx="339328" cy="424220"/>
          </a:xfrm>
          <a:prstGeom prst="rect">
            <a:avLst/>
          </a:prstGeom>
        </p:spPr>
      </p:pic>
      <p:sp>
        <p:nvSpPr>
          <p:cNvPr id="13" name="Text 7">
            <a:extLst>
              <a:ext uri="{FF2B5EF4-FFF2-40B4-BE49-F238E27FC236}">
                <a16:creationId xmlns:a16="http://schemas.microsoft.com/office/drawing/2014/main" id="{9C98935F-2446-8AD2-1A81-797FBA68A7F3}"/>
              </a:ext>
            </a:extLst>
          </p:cNvPr>
          <p:cNvSpPr/>
          <p:nvPr/>
        </p:nvSpPr>
        <p:spPr>
          <a:xfrm>
            <a:off x="9937790" y="5614870"/>
            <a:ext cx="3898821" cy="1224438"/>
          </a:xfrm>
          <a:prstGeom prst="rect">
            <a:avLst/>
          </a:prstGeom>
          <a:noFill/>
          <a:ln/>
        </p:spPr>
        <p:txBody>
          <a:bodyPr wrap="square" lIns="0" tIns="0" rIns="0" bIns="0" rtlCol="0" anchor="t"/>
          <a:lstStyle/>
          <a:p>
            <a:pPr marL="0" indent="0" algn="l">
              <a:lnSpc>
                <a:spcPts val="2850"/>
              </a:lnSpc>
              <a:buNone/>
            </a:pPr>
            <a:r>
              <a:rPr lang="en-US" sz="1750" dirty="0">
                <a:solidFill>
                  <a:srgbClr val="D6D9D7"/>
                </a:solidFill>
                <a:latin typeface="Inter" pitchFamily="34" charset="0"/>
                <a:ea typeface="Inter" pitchFamily="34" charset="-122"/>
                <a:cs typeface="Inter" pitchFamily="34" charset="-120"/>
              </a:rPr>
              <a:t>The system provides automated scoring, feedback, and data storage for unbiased decision making.</a:t>
            </a:r>
            <a:endParaRPr lang="en-US" sz="1750" dirty="0"/>
          </a:p>
        </p:txBody>
      </p:sp>
      <p:pic>
        <p:nvPicPr>
          <p:cNvPr id="14" name="Image 4" descr="preencoded.png">
            <a:extLst>
              <a:ext uri="{FF2B5EF4-FFF2-40B4-BE49-F238E27FC236}">
                <a16:creationId xmlns:a16="http://schemas.microsoft.com/office/drawing/2014/main" id="{FEE82B08-8DE3-D989-7B27-E7F1F44B5A87}"/>
              </a:ext>
            </a:extLst>
          </p:cNvPr>
          <p:cNvPicPr>
            <a:picLocks noChangeAspect="1"/>
          </p:cNvPicPr>
          <p:nvPr/>
        </p:nvPicPr>
        <p:blipFill>
          <a:blip r:embed="rId7"/>
          <a:stretch>
            <a:fillRect/>
          </a:stretch>
        </p:blipFill>
        <p:spPr>
          <a:xfrm>
            <a:off x="5032653" y="2722483"/>
            <a:ext cx="4564975" cy="4564975"/>
          </a:xfrm>
          <a:prstGeom prst="rect">
            <a:avLst/>
          </a:prstGeom>
        </p:spPr>
      </p:pic>
      <p:pic>
        <p:nvPicPr>
          <p:cNvPr id="15" name="Image 5" descr="preencoded.png">
            <a:extLst>
              <a:ext uri="{FF2B5EF4-FFF2-40B4-BE49-F238E27FC236}">
                <a16:creationId xmlns:a16="http://schemas.microsoft.com/office/drawing/2014/main" id="{36B2B0A4-FDBC-BC4F-29CC-9F4CBEE590BE}"/>
              </a:ext>
            </a:extLst>
          </p:cNvPr>
          <p:cNvPicPr>
            <a:picLocks noChangeAspect="1"/>
          </p:cNvPicPr>
          <p:nvPr/>
        </p:nvPicPr>
        <p:blipFill>
          <a:blip r:embed="rId8"/>
          <a:stretch>
            <a:fillRect/>
          </a:stretch>
        </p:blipFill>
        <p:spPr>
          <a:xfrm>
            <a:off x="8064103" y="6099929"/>
            <a:ext cx="339328" cy="424220"/>
          </a:xfrm>
          <a:prstGeom prst="rect">
            <a:avLst/>
          </a:prstGeom>
        </p:spPr>
      </p:pic>
      <p:sp>
        <p:nvSpPr>
          <p:cNvPr id="17" name="Text 9">
            <a:extLst>
              <a:ext uri="{FF2B5EF4-FFF2-40B4-BE49-F238E27FC236}">
                <a16:creationId xmlns:a16="http://schemas.microsoft.com/office/drawing/2014/main" id="{57FA6430-D338-43BD-01E7-1A871E1EF2A2}"/>
              </a:ext>
            </a:extLst>
          </p:cNvPr>
          <p:cNvSpPr/>
          <p:nvPr/>
        </p:nvSpPr>
        <p:spPr>
          <a:xfrm>
            <a:off x="793790" y="5623085"/>
            <a:ext cx="4238863" cy="1216222"/>
          </a:xfrm>
          <a:prstGeom prst="rect">
            <a:avLst/>
          </a:prstGeom>
          <a:noFill/>
          <a:ln/>
        </p:spPr>
        <p:txBody>
          <a:bodyPr wrap="none" lIns="0" tIns="0" rIns="0" bIns="0" rtlCol="0" anchor="t"/>
          <a:lstStyle/>
          <a:p>
            <a:pPr marL="0" indent="0">
              <a:lnSpc>
                <a:spcPts val="2850"/>
              </a:lnSpc>
              <a:buNone/>
            </a:pPr>
            <a:r>
              <a:rPr lang="en-US" sz="1750" dirty="0">
                <a:solidFill>
                  <a:srgbClr val="D6D9D7"/>
                </a:solidFill>
                <a:latin typeface="Inter" pitchFamily="34" charset="0"/>
                <a:ea typeface="Inter" pitchFamily="34" charset="-122"/>
                <a:cs typeface="Inter" pitchFamily="34" charset="-120"/>
              </a:rPr>
              <a:t>A smart interview module generates</a:t>
            </a:r>
          </a:p>
          <a:p>
            <a:pPr marL="0" indent="0">
              <a:lnSpc>
                <a:spcPts val="2850"/>
              </a:lnSpc>
              <a:buNone/>
            </a:pPr>
            <a:r>
              <a:rPr lang="en-US" sz="1750" dirty="0">
                <a:solidFill>
                  <a:srgbClr val="D6D9D7"/>
                </a:solidFill>
                <a:latin typeface="Inter" pitchFamily="34" charset="0"/>
                <a:ea typeface="Inter" pitchFamily="34" charset="-122"/>
                <a:cs typeface="Inter" pitchFamily="34" charset="-120"/>
              </a:rPr>
              <a:t> and conducts dynamic, role-based </a:t>
            </a:r>
          </a:p>
          <a:p>
            <a:pPr marL="0" indent="0">
              <a:lnSpc>
                <a:spcPts val="2850"/>
              </a:lnSpc>
              <a:buNone/>
            </a:pPr>
            <a:r>
              <a:rPr lang="en-US" sz="1750" dirty="0">
                <a:solidFill>
                  <a:srgbClr val="D6D9D7"/>
                </a:solidFill>
                <a:latin typeface="Inter" pitchFamily="34" charset="0"/>
                <a:ea typeface="Inter" pitchFamily="34" charset="-122"/>
                <a:cs typeface="Inter" pitchFamily="34" charset="-120"/>
              </a:rPr>
              <a:t>questions.</a:t>
            </a:r>
            <a:endParaRPr lang="en-US" sz="1750" dirty="0"/>
          </a:p>
        </p:txBody>
      </p:sp>
      <p:pic>
        <p:nvPicPr>
          <p:cNvPr id="18" name="Image 6" descr="preencoded.png">
            <a:extLst>
              <a:ext uri="{FF2B5EF4-FFF2-40B4-BE49-F238E27FC236}">
                <a16:creationId xmlns:a16="http://schemas.microsoft.com/office/drawing/2014/main" id="{94EC99BB-EFA0-0F84-FFE7-E42C72200E6C}"/>
              </a:ext>
            </a:extLst>
          </p:cNvPr>
          <p:cNvPicPr>
            <a:picLocks noChangeAspect="1"/>
          </p:cNvPicPr>
          <p:nvPr/>
        </p:nvPicPr>
        <p:blipFill>
          <a:blip r:embed="rId9"/>
          <a:stretch>
            <a:fillRect/>
          </a:stretch>
        </p:blipFill>
        <p:spPr>
          <a:xfrm>
            <a:off x="5032653" y="2722483"/>
            <a:ext cx="4564975" cy="4564975"/>
          </a:xfrm>
          <a:prstGeom prst="rect">
            <a:avLst/>
          </a:prstGeom>
        </p:spPr>
      </p:pic>
      <p:pic>
        <p:nvPicPr>
          <p:cNvPr id="19" name="Image 7" descr="preencoded.png">
            <a:extLst>
              <a:ext uri="{FF2B5EF4-FFF2-40B4-BE49-F238E27FC236}">
                <a16:creationId xmlns:a16="http://schemas.microsoft.com/office/drawing/2014/main" id="{05EA4F23-1E97-38AF-5696-CED477B2C3E8}"/>
              </a:ext>
            </a:extLst>
          </p:cNvPr>
          <p:cNvPicPr>
            <a:picLocks noChangeAspect="1"/>
          </p:cNvPicPr>
          <p:nvPr/>
        </p:nvPicPr>
        <p:blipFill>
          <a:blip r:embed="rId10"/>
          <a:stretch>
            <a:fillRect/>
          </a:stretch>
        </p:blipFill>
        <p:spPr>
          <a:xfrm>
            <a:off x="5838230" y="5711428"/>
            <a:ext cx="339328" cy="424220"/>
          </a:xfrm>
          <a:prstGeom prst="rect">
            <a:avLst/>
          </a:prstGeom>
        </p:spPr>
      </p:pic>
      <p:sp>
        <p:nvSpPr>
          <p:cNvPr id="20" name="Rectangle 19">
            <a:extLst>
              <a:ext uri="{FF2B5EF4-FFF2-40B4-BE49-F238E27FC236}">
                <a16:creationId xmlns:a16="http://schemas.microsoft.com/office/drawing/2014/main" id="{73ECE56D-538B-BD4C-DEE9-49490C651505}"/>
              </a:ext>
            </a:extLst>
          </p:cNvPr>
          <p:cNvSpPr/>
          <p:nvPr/>
        </p:nvSpPr>
        <p:spPr>
          <a:xfrm>
            <a:off x="0" y="7705493"/>
            <a:ext cx="14630401" cy="524107"/>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11484874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ext 0"/>
          <p:cNvSpPr/>
          <p:nvPr/>
        </p:nvSpPr>
        <p:spPr>
          <a:xfrm>
            <a:off x="793790" y="1466850"/>
            <a:ext cx="7494865" cy="708779"/>
          </a:xfrm>
          <a:prstGeom prst="rect">
            <a:avLst/>
          </a:prstGeom>
          <a:noFill/>
          <a:ln/>
        </p:spPr>
        <p:txBody>
          <a:bodyPr wrap="none" lIns="0" tIns="0" rIns="0" bIns="0" rtlCol="0" anchor="t"/>
          <a:lstStyle/>
          <a:p>
            <a:pPr marL="0" indent="0" algn="l">
              <a:lnSpc>
                <a:spcPts val="5550"/>
              </a:lnSpc>
              <a:buNone/>
            </a:pPr>
            <a:r>
              <a:rPr lang="en-US" sz="4450" dirty="0">
                <a:solidFill>
                  <a:srgbClr val="F7F7F8"/>
                </a:solidFill>
                <a:latin typeface="DM Sans Medium" pitchFamily="34" charset="0"/>
                <a:ea typeface="DM Sans Medium" pitchFamily="34" charset="-122"/>
                <a:cs typeface="DM Sans Medium" pitchFamily="34" charset="-120"/>
              </a:rPr>
              <a:t>Software Requirements</a:t>
            </a:r>
            <a:endParaRPr lang="en-US" sz="4450" dirty="0"/>
          </a:p>
        </p:txBody>
      </p:sp>
      <p:sp>
        <p:nvSpPr>
          <p:cNvPr id="5" name="Text 2"/>
          <p:cNvSpPr/>
          <p:nvPr/>
        </p:nvSpPr>
        <p:spPr>
          <a:xfrm>
            <a:off x="793791" y="2418430"/>
            <a:ext cx="10045660" cy="4687220"/>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D6D9D7"/>
                </a:solidFill>
                <a:latin typeface="Inter" pitchFamily="34" charset="0"/>
                <a:ea typeface="Inter" pitchFamily="34" charset="-122"/>
                <a:cs typeface="Inter" pitchFamily="34" charset="-120"/>
              </a:rPr>
              <a:t>Java for backend data</a:t>
            </a:r>
          </a:p>
          <a:p>
            <a:pPr marL="342900" indent="-342900" algn="l">
              <a:lnSpc>
                <a:spcPts val="2850"/>
              </a:lnSpc>
              <a:buSzPct val="100000"/>
              <a:buChar char="•"/>
            </a:pPr>
            <a:r>
              <a:rPr lang="en-US" sz="1750" dirty="0">
                <a:solidFill>
                  <a:srgbClr val="D6D9D7"/>
                </a:solidFill>
                <a:latin typeface="Inter" pitchFamily="34" charset="0"/>
                <a:ea typeface="Inter" pitchFamily="34" charset="-122"/>
              </a:rPr>
              <a:t>HTML , CSS, JavaScript for Frontend</a:t>
            </a:r>
          </a:p>
          <a:p>
            <a:pPr marL="342900" indent="-342900" algn="l">
              <a:lnSpc>
                <a:spcPts val="2850"/>
              </a:lnSpc>
              <a:buSzPct val="100000"/>
              <a:buChar char="•"/>
            </a:pPr>
            <a:r>
              <a:rPr lang="en-US" sz="1750" dirty="0">
                <a:solidFill>
                  <a:srgbClr val="D6D9D7"/>
                </a:solidFill>
                <a:latin typeface="Inter" pitchFamily="34" charset="0"/>
                <a:ea typeface="Inter" pitchFamily="34" charset="-122"/>
              </a:rPr>
              <a:t>Tools/Libraries :NLP</a:t>
            </a:r>
          </a:p>
          <a:p>
            <a:pPr marL="342900" indent="-342900" algn="l">
              <a:lnSpc>
                <a:spcPts val="2850"/>
              </a:lnSpc>
              <a:buSzPct val="100000"/>
              <a:buChar char="•"/>
            </a:pPr>
            <a:endParaRPr lang="en-US" sz="1750" dirty="0"/>
          </a:p>
        </p:txBody>
      </p:sp>
      <p:sp>
        <p:nvSpPr>
          <p:cNvPr id="4" name="Rectangle 3">
            <a:extLst>
              <a:ext uri="{FF2B5EF4-FFF2-40B4-BE49-F238E27FC236}">
                <a16:creationId xmlns:a16="http://schemas.microsoft.com/office/drawing/2014/main" id="{FB08129C-3F79-9BA9-381E-A7336C1409A1}"/>
              </a:ext>
            </a:extLst>
          </p:cNvPr>
          <p:cNvSpPr/>
          <p:nvPr/>
        </p:nvSpPr>
        <p:spPr>
          <a:xfrm>
            <a:off x="0" y="7705493"/>
            <a:ext cx="14630401" cy="524107"/>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IN"/>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88284D-B717-4056-7FDE-E31CAA2AA289}"/>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500897ED-38FA-749D-0D7E-CFB6E13183BB}"/>
              </a:ext>
            </a:extLst>
          </p:cNvPr>
          <p:cNvSpPr/>
          <p:nvPr/>
        </p:nvSpPr>
        <p:spPr>
          <a:xfrm>
            <a:off x="793790" y="1466850"/>
            <a:ext cx="7494865" cy="708779"/>
          </a:xfrm>
          <a:prstGeom prst="rect">
            <a:avLst/>
          </a:prstGeom>
          <a:noFill/>
          <a:ln/>
        </p:spPr>
        <p:txBody>
          <a:bodyPr wrap="none" lIns="0" tIns="0" rIns="0" bIns="0" rtlCol="0" anchor="t"/>
          <a:lstStyle/>
          <a:p>
            <a:pPr marL="0" indent="0" algn="l">
              <a:lnSpc>
                <a:spcPts val="5550"/>
              </a:lnSpc>
              <a:buNone/>
            </a:pPr>
            <a:r>
              <a:rPr lang="en-US" sz="4450" dirty="0">
                <a:solidFill>
                  <a:srgbClr val="F7F7F8"/>
                </a:solidFill>
                <a:latin typeface="DM Sans Medium" pitchFamily="34" charset="0"/>
                <a:ea typeface="DM Sans Medium" pitchFamily="34" charset="-122"/>
                <a:cs typeface="DM Sans Medium" pitchFamily="34" charset="-120"/>
              </a:rPr>
              <a:t>List of Modules</a:t>
            </a:r>
            <a:endParaRPr lang="en-US" sz="4450" dirty="0"/>
          </a:p>
        </p:txBody>
      </p:sp>
      <p:sp>
        <p:nvSpPr>
          <p:cNvPr id="5" name="Text 2">
            <a:extLst>
              <a:ext uri="{FF2B5EF4-FFF2-40B4-BE49-F238E27FC236}">
                <a16:creationId xmlns:a16="http://schemas.microsoft.com/office/drawing/2014/main" id="{E331FC85-F83C-C84B-2E1B-D3C4353EC743}"/>
              </a:ext>
            </a:extLst>
          </p:cNvPr>
          <p:cNvSpPr/>
          <p:nvPr/>
        </p:nvSpPr>
        <p:spPr>
          <a:xfrm>
            <a:off x="793790" y="2418430"/>
            <a:ext cx="12636459" cy="4687220"/>
          </a:xfrm>
          <a:prstGeom prst="rect">
            <a:avLst/>
          </a:prstGeom>
          <a:noFill/>
          <a:ln/>
        </p:spPr>
        <p:txBody>
          <a:bodyPr wrap="square" lIns="0" tIns="0" rIns="0" bIns="0" rtlCol="0" anchor="t"/>
          <a:lstStyle/>
          <a:p>
            <a:pPr marL="342900" indent="-342900" algn="l">
              <a:lnSpc>
                <a:spcPts val="2850"/>
              </a:lnSpc>
              <a:buSzPct val="100000"/>
              <a:buChar char="•"/>
            </a:pPr>
            <a:r>
              <a:rPr lang="en-US" sz="1750" b="1" dirty="0">
                <a:solidFill>
                  <a:srgbClr val="D6D9D7"/>
                </a:solidFill>
                <a:latin typeface="Inter" pitchFamily="34" charset="0"/>
                <a:ea typeface="Inter" pitchFamily="34" charset="-122"/>
                <a:cs typeface="Inter" pitchFamily="34" charset="-120"/>
              </a:rPr>
              <a:t>User Authentication Module </a:t>
            </a:r>
            <a:r>
              <a:rPr lang="en-US" sz="1750" dirty="0">
                <a:solidFill>
                  <a:srgbClr val="D6D9D7"/>
                </a:solidFill>
                <a:latin typeface="Inter" pitchFamily="34" charset="0"/>
                <a:ea typeface="Inter" pitchFamily="34" charset="-122"/>
                <a:cs typeface="Inter" pitchFamily="34" charset="-120"/>
              </a:rPr>
              <a:t>:- Handles login and registration of users (admin/recruiter). Ensures secure access to the system.</a:t>
            </a:r>
          </a:p>
          <a:p>
            <a:pPr marL="342900" indent="-342900" algn="l">
              <a:lnSpc>
                <a:spcPts val="2850"/>
              </a:lnSpc>
              <a:buSzPct val="100000"/>
              <a:buChar char="•"/>
            </a:pPr>
            <a:endParaRPr lang="en-US" sz="1750" dirty="0">
              <a:solidFill>
                <a:srgbClr val="D6D9D7"/>
              </a:solidFill>
              <a:latin typeface="Inter" pitchFamily="34" charset="0"/>
              <a:ea typeface="Inter" pitchFamily="34" charset="-122"/>
            </a:endParaRPr>
          </a:p>
          <a:p>
            <a:pPr marL="342900" indent="-342900" algn="l">
              <a:lnSpc>
                <a:spcPts val="2850"/>
              </a:lnSpc>
              <a:buSzPct val="100000"/>
              <a:buChar char="•"/>
            </a:pPr>
            <a:r>
              <a:rPr lang="en-US" sz="1750" b="1" dirty="0">
                <a:solidFill>
                  <a:srgbClr val="D6D9D7"/>
                </a:solidFill>
                <a:latin typeface="Inter" pitchFamily="34" charset="0"/>
                <a:ea typeface="Inter" pitchFamily="34" charset="-122"/>
              </a:rPr>
              <a:t>Resume Upload &amp; Parsing Module: </a:t>
            </a:r>
            <a:r>
              <a:rPr lang="en-US" sz="1750" dirty="0">
                <a:solidFill>
                  <a:srgbClr val="D6D9D7"/>
                </a:solidFill>
                <a:latin typeface="Inter" pitchFamily="34" charset="0"/>
                <a:ea typeface="Inter" pitchFamily="34" charset="-122"/>
              </a:rPr>
              <a:t>Allows candidates to upload resumes and uses NLP techniques to extract key details like skills, education, and experience.</a:t>
            </a:r>
          </a:p>
          <a:p>
            <a:pPr algn="l">
              <a:lnSpc>
                <a:spcPts val="2850"/>
              </a:lnSpc>
              <a:buSzPct val="100000"/>
            </a:pPr>
            <a:endParaRPr lang="en-US" sz="1750" dirty="0">
              <a:solidFill>
                <a:srgbClr val="D6D9D7"/>
              </a:solidFill>
              <a:latin typeface="Inter" pitchFamily="34" charset="0"/>
              <a:ea typeface="Inter" pitchFamily="34" charset="-122"/>
            </a:endParaRPr>
          </a:p>
          <a:p>
            <a:pPr marL="342900" indent="-342900" algn="l">
              <a:lnSpc>
                <a:spcPts val="2850"/>
              </a:lnSpc>
              <a:buSzPct val="100000"/>
              <a:buChar char="•"/>
            </a:pPr>
            <a:r>
              <a:rPr lang="en-US" sz="1750" b="1" dirty="0">
                <a:solidFill>
                  <a:srgbClr val="D6D9D7"/>
                </a:solidFill>
                <a:latin typeface="Inter" pitchFamily="34" charset="0"/>
                <a:ea typeface="Inter" pitchFamily="34" charset="-122"/>
              </a:rPr>
              <a:t>Resume Analysis Module :-</a:t>
            </a:r>
            <a:r>
              <a:rPr lang="en-US" sz="1750" dirty="0">
                <a:solidFill>
                  <a:srgbClr val="D6D9D7"/>
                </a:solidFill>
                <a:latin typeface="Inter" pitchFamily="34" charset="0"/>
                <a:ea typeface="Inter" pitchFamily="34" charset="-122"/>
              </a:rPr>
              <a:t>Analyzes and ranks resumes based on job requirements using AI/ML algorithms.</a:t>
            </a:r>
          </a:p>
          <a:p>
            <a:pPr marL="342900" indent="-342900" algn="l">
              <a:lnSpc>
                <a:spcPts val="2850"/>
              </a:lnSpc>
              <a:buSzPct val="100000"/>
              <a:buChar char="•"/>
            </a:pPr>
            <a:endParaRPr lang="en-US" sz="1750" dirty="0">
              <a:solidFill>
                <a:srgbClr val="D6D9D7"/>
              </a:solidFill>
              <a:latin typeface="Inter" pitchFamily="34" charset="0"/>
              <a:ea typeface="Inter" pitchFamily="34" charset="-122"/>
            </a:endParaRPr>
          </a:p>
          <a:p>
            <a:pPr marL="342900" indent="-342900" algn="l">
              <a:lnSpc>
                <a:spcPts val="2850"/>
              </a:lnSpc>
              <a:buSzPct val="100000"/>
              <a:buChar char="•"/>
            </a:pPr>
            <a:r>
              <a:rPr lang="en-US" sz="1750" b="1" dirty="0">
                <a:solidFill>
                  <a:srgbClr val="D6D9D7"/>
                </a:solidFill>
                <a:latin typeface="Inter" pitchFamily="34" charset="0"/>
                <a:ea typeface="Inter" pitchFamily="34" charset="-122"/>
              </a:rPr>
              <a:t>Job Description Management Module</a:t>
            </a:r>
            <a:r>
              <a:rPr lang="en-US" sz="1750" dirty="0">
                <a:solidFill>
                  <a:srgbClr val="D6D9D7"/>
                </a:solidFill>
                <a:latin typeface="Inter" pitchFamily="34" charset="0"/>
                <a:ea typeface="Inter" pitchFamily="34" charset="-122"/>
              </a:rPr>
              <a:t>:-Enables recruiters to create, update, and manage job roles and required skills.</a:t>
            </a:r>
          </a:p>
          <a:p>
            <a:pPr marL="342900" indent="-342900" algn="l">
              <a:lnSpc>
                <a:spcPts val="2850"/>
              </a:lnSpc>
              <a:buSzPct val="100000"/>
              <a:buChar char="•"/>
            </a:pPr>
            <a:endParaRPr lang="en-US" sz="1750" dirty="0">
              <a:solidFill>
                <a:srgbClr val="D6D9D7"/>
              </a:solidFill>
              <a:latin typeface="Inter" pitchFamily="34" charset="0"/>
              <a:ea typeface="Inter" pitchFamily="34" charset="-122"/>
            </a:endParaRPr>
          </a:p>
          <a:p>
            <a:pPr marL="342900" indent="-342900" algn="l">
              <a:lnSpc>
                <a:spcPts val="2850"/>
              </a:lnSpc>
              <a:buSzPct val="100000"/>
              <a:buChar char="•"/>
            </a:pPr>
            <a:r>
              <a:rPr lang="en-US" sz="1750" b="1" dirty="0">
                <a:solidFill>
                  <a:srgbClr val="D6D9D7"/>
                </a:solidFill>
                <a:latin typeface="Inter" pitchFamily="34" charset="0"/>
                <a:ea typeface="Inter" pitchFamily="34" charset="-122"/>
              </a:rPr>
              <a:t>Interview Generation Module </a:t>
            </a:r>
            <a:r>
              <a:rPr lang="en-US" sz="1750" dirty="0">
                <a:solidFill>
                  <a:srgbClr val="D6D9D7"/>
                </a:solidFill>
                <a:latin typeface="Inter" pitchFamily="34" charset="0"/>
                <a:ea typeface="Inter" pitchFamily="34" charset="-122"/>
              </a:rPr>
              <a:t>:-Generates dynamic and role-based interview questions automatically using AI.</a:t>
            </a:r>
            <a:endParaRPr lang="en-US" sz="1750" dirty="0"/>
          </a:p>
        </p:txBody>
      </p:sp>
      <p:sp>
        <p:nvSpPr>
          <p:cNvPr id="2" name="Rectangle 1">
            <a:extLst>
              <a:ext uri="{FF2B5EF4-FFF2-40B4-BE49-F238E27FC236}">
                <a16:creationId xmlns:a16="http://schemas.microsoft.com/office/drawing/2014/main" id="{69634E5B-FF41-0BDF-558E-63A20CC56D00}"/>
              </a:ext>
            </a:extLst>
          </p:cNvPr>
          <p:cNvSpPr/>
          <p:nvPr/>
        </p:nvSpPr>
        <p:spPr>
          <a:xfrm>
            <a:off x="0" y="7705493"/>
            <a:ext cx="14630401" cy="524107"/>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42490545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AD7E71-FBC1-F2C1-786E-313161C41D10}"/>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53FDD6DD-270F-96FD-3AF5-DC5CB81D12AE}"/>
              </a:ext>
            </a:extLst>
          </p:cNvPr>
          <p:cNvSpPr/>
          <p:nvPr/>
        </p:nvSpPr>
        <p:spPr>
          <a:xfrm>
            <a:off x="793790" y="1466850"/>
            <a:ext cx="7494865" cy="708779"/>
          </a:xfrm>
          <a:prstGeom prst="rect">
            <a:avLst/>
          </a:prstGeom>
          <a:noFill/>
          <a:ln/>
        </p:spPr>
        <p:txBody>
          <a:bodyPr wrap="none" lIns="0" tIns="0" rIns="0" bIns="0" rtlCol="0" anchor="t"/>
          <a:lstStyle/>
          <a:p>
            <a:pPr marL="0" indent="0" algn="l">
              <a:lnSpc>
                <a:spcPts val="5550"/>
              </a:lnSpc>
              <a:buNone/>
            </a:pPr>
            <a:r>
              <a:rPr lang="en-US" sz="4450" dirty="0">
                <a:solidFill>
                  <a:srgbClr val="F7F7F8"/>
                </a:solidFill>
                <a:latin typeface="DM Sans Medium" pitchFamily="34" charset="0"/>
                <a:ea typeface="DM Sans Medium" pitchFamily="34" charset="-122"/>
                <a:cs typeface="DM Sans Medium" pitchFamily="34" charset="-120"/>
              </a:rPr>
              <a:t>List of Modules</a:t>
            </a:r>
            <a:endParaRPr lang="en-US" sz="4450" dirty="0"/>
          </a:p>
        </p:txBody>
      </p:sp>
      <p:sp>
        <p:nvSpPr>
          <p:cNvPr id="5" name="Text 2">
            <a:extLst>
              <a:ext uri="{FF2B5EF4-FFF2-40B4-BE49-F238E27FC236}">
                <a16:creationId xmlns:a16="http://schemas.microsoft.com/office/drawing/2014/main" id="{763067C1-8532-42BC-758A-7901754FA9BB}"/>
              </a:ext>
            </a:extLst>
          </p:cNvPr>
          <p:cNvSpPr/>
          <p:nvPr/>
        </p:nvSpPr>
        <p:spPr>
          <a:xfrm>
            <a:off x="793790" y="2418430"/>
            <a:ext cx="12712659" cy="4687220"/>
          </a:xfrm>
          <a:prstGeom prst="rect">
            <a:avLst/>
          </a:prstGeom>
          <a:noFill/>
          <a:ln/>
        </p:spPr>
        <p:txBody>
          <a:bodyPr wrap="square" lIns="0" tIns="0" rIns="0" bIns="0" rtlCol="0" anchor="t"/>
          <a:lstStyle/>
          <a:p>
            <a:pPr marL="342900" indent="-342900" algn="l">
              <a:lnSpc>
                <a:spcPts val="2850"/>
              </a:lnSpc>
              <a:buSzPct val="100000"/>
              <a:buChar char="•"/>
            </a:pPr>
            <a:r>
              <a:rPr lang="en-US" sz="1750" b="1" dirty="0">
                <a:solidFill>
                  <a:srgbClr val="D6D9D7"/>
                </a:solidFill>
                <a:latin typeface="Inter" pitchFamily="34" charset="0"/>
                <a:ea typeface="Inter" pitchFamily="34" charset="-122"/>
                <a:cs typeface="Inter" pitchFamily="34" charset="-120"/>
              </a:rPr>
              <a:t>Interview Evaluation Module :-</a:t>
            </a:r>
            <a:r>
              <a:rPr lang="en-US" sz="1750" dirty="0">
                <a:solidFill>
                  <a:srgbClr val="D6D9D7"/>
                </a:solidFill>
                <a:latin typeface="Inter" pitchFamily="34" charset="0"/>
                <a:ea typeface="Inter" pitchFamily="34" charset="-122"/>
                <a:cs typeface="Inter" pitchFamily="34" charset="-120"/>
              </a:rPr>
              <a:t>Evaluates candidate responses using NLP and provides scores based on relevance and correctness</a:t>
            </a:r>
            <a:r>
              <a:rPr lang="en-US" sz="1750" b="1" dirty="0">
                <a:solidFill>
                  <a:srgbClr val="D6D9D7"/>
                </a:solidFill>
                <a:latin typeface="Inter" pitchFamily="34" charset="0"/>
                <a:ea typeface="Inter" pitchFamily="34" charset="-122"/>
                <a:cs typeface="Inter" pitchFamily="34" charset="-120"/>
              </a:rPr>
              <a:t>.</a:t>
            </a:r>
          </a:p>
          <a:p>
            <a:pPr marL="342900" indent="-342900" algn="l">
              <a:lnSpc>
                <a:spcPts val="2850"/>
              </a:lnSpc>
              <a:buSzPct val="100000"/>
              <a:buChar char="•"/>
            </a:pPr>
            <a:endParaRPr lang="en-US" sz="1750" b="1" dirty="0">
              <a:solidFill>
                <a:srgbClr val="D6D9D7"/>
              </a:solidFill>
              <a:latin typeface="Inter" pitchFamily="34" charset="0"/>
              <a:ea typeface="Inter" pitchFamily="34" charset="-122"/>
              <a:cs typeface="Inter" pitchFamily="34" charset="-120"/>
            </a:endParaRPr>
          </a:p>
          <a:p>
            <a:pPr marL="342900" indent="-342900" algn="l">
              <a:lnSpc>
                <a:spcPts val="2850"/>
              </a:lnSpc>
              <a:buSzPct val="100000"/>
              <a:buChar char="•"/>
            </a:pPr>
            <a:r>
              <a:rPr lang="en-US" sz="1750" b="1" dirty="0">
                <a:solidFill>
                  <a:srgbClr val="D6D9D7"/>
                </a:solidFill>
                <a:latin typeface="Inter" pitchFamily="34" charset="0"/>
                <a:ea typeface="Inter" pitchFamily="34" charset="-122"/>
              </a:rPr>
              <a:t>Database Management Module:-</a:t>
            </a:r>
            <a:r>
              <a:rPr lang="en-US" sz="1750" dirty="0">
                <a:solidFill>
                  <a:srgbClr val="D6D9D7"/>
                </a:solidFill>
                <a:latin typeface="Inter" pitchFamily="34" charset="0"/>
                <a:ea typeface="Inter" pitchFamily="34" charset="-122"/>
              </a:rPr>
              <a:t>Stores candidate details, resumes, interview results, and scores using SQL.</a:t>
            </a:r>
          </a:p>
          <a:p>
            <a:pPr marL="342900" indent="-342900" algn="l">
              <a:lnSpc>
                <a:spcPts val="2850"/>
              </a:lnSpc>
              <a:buSzPct val="100000"/>
              <a:buChar char="•"/>
            </a:pPr>
            <a:endParaRPr lang="en-US" sz="1750" dirty="0">
              <a:solidFill>
                <a:srgbClr val="D6D9D7"/>
              </a:solidFill>
              <a:latin typeface="Inter" pitchFamily="34" charset="0"/>
              <a:ea typeface="Inter" pitchFamily="34" charset="-122"/>
            </a:endParaRPr>
          </a:p>
          <a:p>
            <a:pPr marL="342900" indent="-342900" algn="l">
              <a:lnSpc>
                <a:spcPts val="2850"/>
              </a:lnSpc>
              <a:buSzPct val="100000"/>
              <a:buChar char="•"/>
            </a:pPr>
            <a:r>
              <a:rPr lang="en-US" sz="1750" b="1" dirty="0">
                <a:solidFill>
                  <a:srgbClr val="D6D9D7"/>
                </a:solidFill>
                <a:latin typeface="Inter" pitchFamily="34" charset="0"/>
                <a:ea typeface="Inter" pitchFamily="34" charset="-122"/>
              </a:rPr>
              <a:t>Reporting &amp; Feedback Module :-</a:t>
            </a:r>
            <a:r>
              <a:rPr lang="en-US" sz="1750" dirty="0">
                <a:solidFill>
                  <a:srgbClr val="D6D9D7"/>
                </a:solidFill>
                <a:latin typeface="Inter" pitchFamily="34" charset="0"/>
                <a:ea typeface="Inter" pitchFamily="34" charset="-122"/>
              </a:rPr>
              <a:t>Generates reports and provides feedback on candidate performance for better decision making.</a:t>
            </a:r>
          </a:p>
        </p:txBody>
      </p:sp>
    </p:spTree>
    <p:extLst>
      <p:ext uri="{BB962C8B-B14F-4D97-AF65-F5344CB8AC3E}">
        <p14:creationId xmlns:p14="http://schemas.microsoft.com/office/powerpoint/2010/main" val="23873704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93790" y="1504236"/>
            <a:ext cx="5883116" cy="531614"/>
          </a:xfrm>
          <a:prstGeom prst="rect">
            <a:avLst/>
          </a:prstGeom>
          <a:noFill/>
          <a:ln/>
        </p:spPr>
        <p:txBody>
          <a:bodyPr wrap="none" lIns="0" tIns="0" rIns="0" bIns="0" rtlCol="0" anchor="t"/>
          <a:lstStyle/>
          <a:p>
            <a:pPr marL="0" indent="0" algn="l">
              <a:lnSpc>
                <a:spcPts val="4150"/>
              </a:lnSpc>
              <a:buNone/>
            </a:pPr>
            <a:r>
              <a:rPr lang="en-US" sz="3300" dirty="0">
                <a:solidFill>
                  <a:srgbClr val="F7F7F8"/>
                </a:solidFill>
                <a:latin typeface="DM Sans Medium" pitchFamily="34" charset="0"/>
                <a:ea typeface="DM Sans Medium" pitchFamily="34" charset="-122"/>
                <a:cs typeface="DM Sans Medium" pitchFamily="34" charset="-120"/>
              </a:rPr>
              <a:t>Overall Architecture</a:t>
            </a:r>
            <a:endParaRPr lang="en-US" sz="3300" dirty="0"/>
          </a:p>
        </p:txBody>
      </p:sp>
      <p:sp>
        <p:nvSpPr>
          <p:cNvPr id="27" name="Rectangle 26">
            <a:extLst>
              <a:ext uri="{FF2B5EF4-FFF2-40B4-BE49-F238E27FC236}">
                <a16:creationId xmlns:a16="http://schemas.microsoft.com/office/drawing/2014/main" id="{04E76A76-B0D2-06C6-9256-23974DCA7E83}"/>
              </a:ext>
            </a:extLst>
          </p:cNvPr>
          <p:cNvSpPr/>
          <p:nvPr/>
        </p:nvSpPr>
        <p:spPr>
          <a:xfrm>
            <a:off x="0" y="7705493"/>
            <a:ext cx="14630401" cy="524107"/>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IN"/>
          </a:p>
        </p:txBody>
      </p:sp>
      <p:pic>
        <p:nvPicPr>
          <p:cNvPr id="30" name="Picture 29">
            <a:extLst>
              <a:ext uri="{FF2B5EF4-FFF2-40B4-BE49-F238E27FC236}">
                <a16:creationId xmlns:a16="http://schemas.microsoft.com/office/drawing/2014/main" id="{DCB6ED33-3CD0-FDFC-C8E9-3AE9E4A5602E}"/>
              </a:ext>
            </a:extLst>
          </p:cNvPr>
          <p:cNvPicPr>
            <a:picLocks noChangeAspect="1"/>
          </p:cNvPicPr>
          <p:nvPr/>
        </p:nvPicPr>
        <p:blipFill>
          <a:blip r:embed="rId3"/>
          <a:stretch>
            <a:fillRect/>
          </a:stretch>
        </p:blipFill>
        <p:spPr>
          <a:xfrm>
            <a:off x="2952750" y="2247900"/>
            <a:ext cx="8629650" cy="4789709"/>
          </a:xfrm>
          <a:prstGeom prst="rect">
            <a:avLst/>
          </a:prstGeom>
        </p:spPr>
      </p:pic>
      <p:sp>
        <p:nvSpPr>
          <p:cNvPr id="31" name="Oval 30">
            <a:extLst>
              <a:ext uri="{FF2B5EF4-FFF2-40B4-BE49-F238E27FC236}">
                <a16:creationId xmlns:a16="http://schemas.microsoft.com/office/drawing/2014/main" id="{8302CB73-AF68-669E-4A70-066472A09003}"/>
              </a:ext>
            </a:extLst>
          </p:cNvPr>
          <p:cNvSpPr/>
          <p:nvPr/>
        </p:nvSpPr>
        <p:spPr>
          <a:xfrm>
            <a:off x="4138246" y="3985846"/>
            <a:ext cx="1524000" cy="48064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interview</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174FFF-1D24-5EBE-B911-779402F1F6E8}"/>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F19290BA-43E7-FEA8-A06A-B31F51E6FBCA}"/>
              </a:ext>
            </a:extLst>
          </p:cNvPr>
          <p:cNvSpPr/>
          <p:nvPr/>
        </p:nvSpPr>
        <p:spPr>
          <a:xfrm>
            <a:off x="793790" y="1466850"/>
            <a:ext cx="7494865" cy="708779"/>
          </a:xfrm>
          <a:prstGeom prst="rect">
            <a:avLst/>
          </a:prstGeom>
          <a:noFill/>
          <a:ln/>
        </p:spPr>
        <p:txBody>
          <a:bodyPr wrap="none" lIns="0" tIns="0" rIns="0" bIns="0" rtlCol="0" anchor="t"/>
          <a:lstStyle/>
          <a:p>
            <a:pPr marL="0" indent="0" algn="l">
              <a:lnSpc>
                <a:spcPts val="5550"/>
              </a:lnSpc>
              <a:buNone/>
            </a:pPr>
            <a:r>
              <a:rPr lang="en-US" sz="4450" dirty="0">
                <a:solidFill>
                  <a:srgbClr val="F7F7F8"/>
                </a:solidFill>
                <a:latin typeface="DM Sans Medium" pitchFamily="34" charset="0"/>
                <a:ea typeface="DM Sans Medium" pitchFamily="34" charset="-122"/>
                <a:cs typeface="DM Sans Medium" pitchFamily="34" charset="-120"/>
              </a:rPr>
              <a:t>Result and Discussion</a:t>
            </a:r>
            <a:endParaRPr lang="en-US" sz="4450" dirty="0"/>
          </a:p>
        </p:txBody>
      </p:sp>
      <p:sp>
        <p:nvSpPr>
          <p:cNvPr id="5" name="Text 2">
            <a:extLst>
              <a:ext uri="{FF2B5EF4-FFF2-40B4-BE49-F238E27FC236}">
                <a16:creationId xmlns:a16="http://schemas.microsoft.com/office/drawing/2014/main" id="{AD7E3A59-EE1A-EA4E-7014-E3A7BE1815E3}"/>
              </a:ext>
            </a:extLst>
          </p:cNvPr>
          <p:cNvSpPr/>
          <p:nvPr/>
        </p:nvSpPr>
        <p:spPr>
          <a:xfrm>
            <a:off x="793790" y="2418430"/>
            <a:ext cx="12903160" cy="4744370"/>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D6D9D7"/>
                </a:solidFill>
                <a:latin typeface="Inter" pitchFamily="34" charset="0"/>
                <a:ea typeface="Inter" pitchFamily="34" charset="-122"/>
                <a:cs typeface="Inter" pitchFamily="34" charset="-120"/>
              </a:rPr>
              <a:t>The proposed system significantly improves recruitment efficiency by automating resume screening and interview evaluation. It reduces human bias and ensures consistent candidate assessment using AI and NLP techniques. The system provides faster processing, accurate ranking, and real-time feedback. Overall, it enhances decision making, saves time, and offers a scalable solution for modern hiring processes</a:t>
            </a:r>
            <a:r>
              <a:rPr lang="en-US" sz="1750" i="1" dirty="0">
                <a:solidFill>
                  <a:srgbClr val="D6D9D7"/>
                </a:solidFill>
                <a:latin typeface="Inter" pitchFamily="34" charset="0"/>
                <a:ea typeface="Inter" pitchFamily="34" charset="-122"/>
                <a:cs typeface="Inter" pitchFamily="34" charset="-120"/>
              </a:rPr>
              <a:t>.</a:t>
            </a:r>
            <a:endParaRPr lang="en-US" sz="1750" dirty="0"/>
          </a:p>
        </p:txBody>
      </p:sp>
    </p:spTree>
    <p:extLst>
      <p:ext uri="{BB962C8B-B14F-4D97-AF65-F5344CB8AC3E}">
        <p14:creationId xmlns:p14="http://schemas.microsoft.com/office/powerpoint/2010/main" val="35192274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468BDC-B540-65AB-1591-4087604DB334}"/>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DD63CA9E-423F-FA8A-EE24-38D2999C1715}"/>
              </a:ext>
            </a:extLst>
          </p:cNvPr>
          <p:cNvSpPr/>
          <p:nvPr/>
        </p:nvSpPr>
        <p:spPr>
          <a:xfrm>
            <a:off x="793790" y="1466850"/>
            <a:ext cx="7494865" cy="708779"/>
          </a:xfrm>
          <a:prstGeom prst="rect">
            <a:avLst/>
          </a:prstGeom>
          <a:noFill/>
          <a:ln/>
        </p:spPr>
        <p:txBody>
          <a:bodyPr wrap="none" lIns="0" tIns="0" rIns="0" bIns="0" rtlCol="0" anchor="t"/>
          <a:lstStyle/>
          <a:p>
            <a:pPr marL="0" indent="0" algn="l">
              <a:lnSpc>
                <a:spcPts val="5550"/>
              </a:lnSpc>
              <a:buNone/>
            </a:pPr>
            <a:r>
              <a:rPr lang="en-US" sz="4450" dirty="0">
                <a:solidFill>
                  <a:srgbClr val="F7F7F8"/>
                </a:solidFill>
                <a:latin typeface="DM Sans Medium" pitchFamily="34" charset="0"/>
                <a:ea typeface="DM Sans Medium" pitchFamily="34" charset="-122"/>
                <a:cs typeface="DM Sans Medium" pitchFamily="34" charset="-120"/>
              </a:rPr>
              <a:t>Conclusion</a:t>
            </a:r>
            <a:endParaRPr lang="en-US" sz="4450" dirty="0"/>
          </a:p>
        </p:txBody>
      </p:sp>
      <p:sp>
        <p:nvSpPr>
          <p:cNvPr id="5" name="Text 2">
            <a:extLst>
              <a:ext uri="{FF2B5EF4-FFF2-40B4-BE49-F238E27FC236}">
                <a16:creationId xmlns:a16="http://schemas.microsoft.com/office/drawing/2014/main" id="{EFA86614-5E2A-214C-F96A-9FC4ABF6A9C2}"/>
              </a:ext>
            </a:extLst>
          </p:cNvPr>
          <p:cNvSpPr/>
          <p:nvPr/>
        </p:nvSpPr>
        <p:spPr>
          <a:xfrm>
            <a:off x="793790" y="2418430"/>
            <a:ext cx="12903160" cy="4744370"/>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D6D9D7"/>
                </a:solidFill>
                <a:latin typeface="Inter" pitchFamily="34" charset="0"/>
                <a:ea typeface="Inter" pitchFamily="34" charset="-122"/>
                <a:cs typeface="Inter" pitchFamily="34" charset="-120"/>
              </a:rPr>
              <a:t>The proposed AI-based system successfully automates resume analysis and interview evaluation, improving efficiency, accuracy, and consistency in recruitment. By using NLP and machine learning techniques, it reduces human bias and manual effort. The system ensures faster candidate screening and better decision making, making it a reliable solution for modern hiring processes.</a:t>
            </a:r>
            <a:endParaRPr lang="en-US" sz="1750" dirty="0"/>
          </a:p>
        </p:txBody>
      </p:sp>
    </p:spTree>
    <p:extLst>
      <p:ext uri="{BB962C8B-B14F-4D97-AF65-F5344CB8AC3E}">
        <p14:creationId xmlns:p14="http://schemas.microsoft.com/office/powerpoint/2010/main" val="33323821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A1FBF9-2FE9-CCAC-E06D-D8A97579DD74}"/>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41E4468F-5F54-939F-9394-6182D3A8278E}"/>
              </a:ext>
            </a:extLst>
          </p:cNvPr>
          <p:cNvSpPr/>
          <p:nvPr/>
        </p:nvSpPr>
        <p:spPr>
          <a:xfrm>
            <a:off x="793790" y="1466850"/>
            <a:ext cx="7494865" cy="708779"/>
          </a:xfrm>
          <a:prstGeom prst="rect">
            <a:avLst/>
          </a:prstGeom>
          <a:noFill/>
          <a:ln/>
        </p:spPr>
        <p:txBody>
          <a:bodyPr wrap="none" lIns="0" tIns="0" rIns="0" bIns="0" rtlCol="0" anchor="t"/>
          <a:lstStyle/>
          <a:p>
            <a:pPr marL="0" indent="0" algn="l">
              <a:lnSpc>
                <a:spcPts val="5550"/>
              </a:lnSpc>
              <a:buNone/>
            </a:pPr>
            <a:r>
              <a:rPr lang="en-US" sz="4450" dirty="0">
                <a:solidFill>
                  <a:srgbClr val="F7F7F8"/>
                </a:solidFill>
                <a:latin typeface="DM Sans Medium" pitchFamily="34" charset="0"/>
                <a:ea typeface="DM Sans Medium" pitchFamily="34" charset="-122"/>
                <a:cs typeface="DM Sans Medium" pitchFamily="34" charset="-120"/>
              </a:rPr>
              <a:t>Future Enhancements</a:t>
            </a:r>
            <a:endParaRPr lang="en-US" sz="4450" dirty="0"/>
          </a:p>
        </p:txBody>
      </p:sp>
      <p:sp>
        <p:nvSpPr>
          <p:cNvPr id="5" name="Text 2">
            <a:extLst>
              <a:ext uri="{FF2B5EF4-FFF2-40B4-BE49-F238E27FC236}">
                <a16:creationId xmlns:a16="http://schemas.microsoft.com/office/drawing/2014/main" id="{771E6815-50BE-672C-CFC8-563EE1BA8A9A}"/>
              </a:ext>
            </a:extLst>
          </p:cNvPr>
          <p:cNvSpPr/>
          <p:nvPr/>
        </p:nvSpPr>
        <p:spPr>
          <a:xfrm>
            <a:off x="793790" y="2418430"/>
            <a:ext cx="12903160" cy="4744370"/>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D6D9D7"/>
                </a:solidFill>
                <a:latin typeface="Inter" pitchFamily="34" charset="0"/>
                <a:ea typeface="Inter" pitchFamily="34" charset="-122"/>
                <a:cs typeface="Inter" pitchFamily="34" charset="-120"/>
              </a:rPr>
              <a:t>Integration of voice-based interviews using speech recognition</a:t>
            </a:r>
          </a:p>
          <a:p>
            <a:pPr marL="342900" indent="-342900" algn="l">
              <a:lnSpc>
                <a:spcPts val="2850"/>
              </a:lnSpc>
              <a:buSzPct val="100000"/>
              <a:buChar char="•"/>
            </a:pPr>
            <a:r>
              <a:rPr lang="en-US" sz="1750" dirty="0">
                <a:solidFill>
                  <a:srgbClr val="D6D9D7"/>
                </a:solidFill>
                <a:latin typeface="Inter" pitchFamily="34" charset="0"/>
                <a:ea typeface="Inter" pitchFamily="34" charset="-122"/>
              </a:rPr>
              <a:t>Use of advanced AI models for deeper skill and emotion analysis.</a:t>
            </a:r>
          </a:p>
          <a:p>
            <a:pPr marL="342900" indent="-342900" algn="l">
              <a:lnSpc>
                <a:spcPts val="2850"/>
              </a:lnSpc>
              <a:buSzPct val="100000"/>
              <a:buChar char="•"/>
            </a:pPr>
            <a:r>
              <a:rPr lang="en-US" sz="1750" dirty="0">
                <a:solidFill>
                  <a:srgbClr val="D6D9D7"/>
                </a:solidFill>
                <a:latin typeface="Inter" pitchFamily="34" charset="0"/>
                <a:ea typeface="Inter" pitchFamily="34" charset="-122"/>
              </a:rPr>
              <a:t>Real-time video interview analysis with facial expression detection.</a:t>
            </a:r>
          </a:p>
          <a:p>
            <a:pPr marL="342900" indent="-342900" algn="l">
              <a:lnSpc>
                <a:spcPts val="2850"/>
              </a:lnSpc>
              <a:buSzPct val="100000"/>
              <a:buChar char="•"/>
            </a:pPr>
            <a:r>
              <a:rPr lang="en-US" sz="1750" dirty="0">
                <a:solidFill>
                  <a:srgbClr val="D6D9D7"/>
                </a:solidFill>
                <a:latin typeface="Inter" pitchFamily="34" charset="0"/>
                <a:ea typeface="Inter" pitchFamily="34" charset="-122"/>
              </a:rPr>
              <a:t>Integration with job portals like LinkedIn for automated hiring.</a:t>
            </a:r>
          </a:p>
          <a:p>
            <a:pPr marL="342900" indent="-342900" algn="l">
              <a:lnSpc>
                <a:spcPts val="2850"/>
              </a:lnSpc>
              <a:buSzPct val="100000"/>
              <a:buChar char="•"/>
            </a:pPr>
            <a:r>
              <a:rPr lang="en-US" sz="1750" dirty="0">
                <a:solidFill>
                  <a:srgbClr val="D6D9D7"/>
                </a:solidFill>
                <a:latin typeface="Inter" pitchFamily="34" charset="0"/>
                <a:ea typeface="Inter" pitchFamily="34" charset="-122"/>
              </a:rPr>
              <a:t>Improved explainable AI for transparent and fair decision making.</a:t>
            </a:r>
            <a:endParaRPr lang="en-US" sz="1750" dirty="0"/>
          </a:p>
        </p:txBody>
      </p:sp>
    </p:spTree>
    <p:extLst>
      <p:ext uri="{BB962C8B-B14F-4D97-AF65-F5344CB8AC3E}">
        <p14:creationId xmlns:p14="http://schemas.microsoft.com/office/powerpoint/2010/main" val="25426515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84BA0D-10A1-DBD7-3D8E-BA9316BA35A5}"/>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6E13D6F9-9CA1-76D7-2910-E07C115E6C96}"/>
              </a:ext>
            </a:extLst>
          </p:cNvPr>
          <p:cNvSpPr/>
          <p:nvPr/>
        </p:nvSpPr>
        <p:spPr>
          <a:xfrm>
            <a:off x="793790" y="1466850"/>
            <a:ext cx="7494865" cy="708779"/>
          </a:xfrm>
          <a:prstGeom prst="rect">
            <a:avLst/>
          </a:prstGeom>
          <a:noFill/>
          <a:ln/>
        </p:spPr>
        <p:txBody>
          <a:bodyPr wrap="none" lIns="0" tIns="0" rIns="0" bIns="0" rtlCol="0" anchor="t"/>
          <a:lstStyle/>
          <a:p>
            <a:pPr marL="0" indent="0" algn="l">
              <a:lnSpc>
                <a:spcPts val="5550"/>
              </a:lnSpc>
              <a:buNone/>
            </a:pPr>
            <a:r>
              <a:rPr lang="en-US" sz="4450" dirty="0">
                <a:solidFill>
                  <a:srgbClr val="F7F7F8"/>
                </a:solidFill>
                <a:latin typeface="DM Sans Medium" pitchFamily="34" charset="0"/>
                <a:ea typeface="DM Sans Medium" pitchFamily="34" charset="-122"/>
                <a:cs typeface="DM Sans Medium" pitchFamily="34" charset="-120"/>
              </a:rPr>
              <a:t>References</a:t>
            </a:r>
            <a:endParaRPr lang="en-US" sz="4450" dirty="0"/>
          </a:p>
        </p:txBody>
      </p:sp>
      <p:sp>
        <p:nvSpPr>
          <p:cNvPr id="5" name="Text 2">
            <a:extLst>
              <a:ext uri="{FF2B5EF4-FFF2-40B4-BE49-F238E27FC236}">
                <a16:creationId xmlns:a16="http://schemas.microsoft.com/office/drawing/2014/main" id="{9E974276-80AF-3457-E042-39018FF89C42}"/>
              </a:ext>
            </a:extLst>
          </p:cNvPr>
          <p:cNvSpPr/>
          <p:nvPr/>
        </p:nvSpPr>
        <p:spPr>
          <a:xfrm>
            <a:off x="793790" y="2418430"/>
            <a:ext cx="11226760" cy="942348"/>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D6D9D7"/>
                </a:solidFill>
                <a:latin typeface="Inter" pitchFamily="34" charset="0"/>
                <a:ea typeface="Inter" pitchFamily="34" charset="-122"/>
                <a:cs typeface="Inter" pitchFamily="34" charset="-120"/>
              </a:rPr>
              <a:t>M. </a:t>
            </a:r>
            <a:r>
              <a:rPr lang="en-US" sz="1750" dirty="0" err="1">
                <a:solidFill>
                  <a:srgbClr val="D6D9D7"/>
                </a:solidFill>
                <a:latin typeface="Inter" pitchFamily="34" charset="0"/>
                <a:ea typeface="Inter" pitchFamily="34" charset="-122"/>
                <a:cs typeface="Inter" pitchFamily="34" charset="-120"/>
              </a:rPr>
              <a:t>Saatcı</a:t>
            </a:r>
            <a:r>
              <a:rPr lang="en-US" sz="1750" dirty="0">
                <a:solidFill>
                  <a:srgbClr val="D6D9D7"/>
                </a:solidFill>
                <a:latin typeface="Inter" pitchFamily="34" charset="0"/>
                <a:ea typeface="Inter" pitchFamily="34" charset="-122"/>
                <a:cs typeface="Inter" pitchFamily="34" charset="-120"/>
              </a:rPr>
              <a:t> and Z. H. </a:t>
            </a:r>
            <a:r>
              <a:rPr lang="en-US" sz="1750" dirty="0" err="1">
                <a:solidFill>
                  <a:srgbClr val="D6D9D7"/>
                </a:solidFill>
                <a:latin typeface="Inter" pitchFamily="34" charset="0"/>
                <a:ea typeface="Inter" pitchFamily="34" charset="-122"/>
                <a:cs typeface="Inter" pitchFamily="34" charset="-120"/>
              </a:rPr>
              <a:t>Kilimci</a:t>
            </a:r>
            <a:r>
              <a:rPr lang="en-US" sz="1750" dirty="0">
                <a:solidFill>
                  <a:srgbClr val="D6D9D7"/>
                </a:solidFill>
                <a:latin typeface="Inter" pitchFamily="34" charset="0"/>
                <a:ea typeface="Inter" pitchFamily="34" charset="-122"/>
                <a:cs typeface="Inter" pitchFamily="34" charset="-120"/>
              </a:rPr>
              <a:t>, “Resume Screening with Natural Language Processing (NLP),” International Journal of Computer Science, 2025.</a:t>
            </a:r>
            <a:endParaRPr lang="en-US" sz="1750" dirty="0"/>
          </a:p>
        </p:txBody>
      </p:sp>
      <p:sp>
        <p:nvSpPr>
          <p:cNvPr id="6" name="Text 3">
            <a:extLst>
              <a:ext uri="{FF2B5EF4-FFF2-40B4-BE49-F238E27FC236}">
                <a16:creationId xmlns:a16="http://schemas.microsoft.com/office/drawing/2014/main" id="{8573DFE5-A45A-99DC-7F72-EC5136C1BDBD}"/>
              </a:ext>
            </a:extLst>
          </p:cNvPr>
          <p:cNvSpPr/>
          <p:nvPr/>
        </p:nvSpPr>
        <p:spPr>
          <a:xfrm>
            <a:off x="793790" y="3417213"/>
            <a:ext cx="11455360" cy="942348"/>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D6D9D7"/>
                </a:solidFill>
                <a:latin typeface="Inter" pitchFamily="34" charset="0"/>
                <a:ea typeface="Inter" pitchFamily="34" charset="-122"/>
                <a:cs typeface="Inter" pitchFamily="34" charset="-120"/>
              </a:rPr>
              <a:t>K. R. Shinde and S. B. Patil, “AI-Based Resume Screening System,” International Journal of Computer Applications, vol. XX, no. XX, 2025.</a:t>
            </a:r>
            <a:endParaRPr lang="en-US" sz="1750" dirty="0"/>
          </a:p>
        </p:txBody>
      </p:sp>
      <p:sp>
        <p:nvSpPr>
          <p:cNvPr id="7" name="Text 4">
            <a:extLst>
              <a:ext uri="{FF2B5EF4-FFF2-40B4-BE49-F238E27FC236}">
                <a16:creationId xmlns:a16="http://schemas.microsoft.com/office/drawing/2014/main" id="{08D1DF58-2E4C-9294-41C6-E614CF67240B}"/>
              </a:ext>
            </a:extLst>
          </p:cNvPr>
          <p:cNvSpPr/>
          <p:nvPr/>
        </p:nvSpPr>
        <p:spPr>
          <a:xfrm>
            <a:off x="793790" y="5990358"/>
            <a:ext cx="11226760" cy="772392"/>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D6D9D7"/>
                </a:solidFill>
                <a:latin typeface="Inter" pitchFamily="34" charset="0"/>
                <a:ea typeface="Inter" pitchFamily="34" charset="-122"/>
                <a:cs typeface="Inter" pitchFamily="34" charset="-120"/>
              </a:rPr>
              <a:t>C. K. Weng, “AI Resume Screening and Chatbot Integration Using Large Language Models,” Expert Systems with Applications, Elsevier, 2025.</a:t>
            </a:r>
            <a:r>
              <a:rPr lang="en-US" sz="1750" b="1" dirty="0">
                <a:solidFill>
                  <a:srgbClr val="D6D9D7"/>
                </a:solidFill>
                <a:latin typeface="Inter" pitchFamily="34" charset="0"/>
                <a:ea typeface="Inter" pitchFamily="34" charset="-122"/>
                <a:cs typeface="Inter" pitchFamily="34" charset="-120"/>
              </a:rPr>
              <a:t>.</a:t>
            </a:r>
            <a:endParaRPr lang="en-US" sz="1750" dirty="0"/>
          </a:p>
        </p:txBody>
      </p:sp>
      <p:sp>
        <p:nvSpPr>
          <p:cNvPr id="8" name="Text 5">
            <a:extLst>
              <a:ext uri="{FF2B5EF4-FFF2-40B4-BE49-F238E27FC236}">
                <a16:creationId xmlns:a16="http://schemas.microsoft.com/office/drawing/2014/main" id="{05C6C617-7D56-8FEA-6E53-FBF7856275CD}"/>
              </a:ext>
            </a:extLst>
          </p:cNvPr>
          <p:cNvSpPr/>
          <p:nvPr/>
        </p:nvSpPr>
        <p:spPr>
          <a:xfrm>
            <a:off x="793790" y="4575643"/>
            <a:ext cx="11626810" cy="1272707"/>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D6D9D7"/>
                </a:solidFill>
                <a:latin typeface="Inter" pitchFamily="34" charset="0"/>
                <a:ea typeface="Inter" pitchFamily="34" charset="-122"/>
                <a:cs typeface="Inter" pitchFamily="34" charset="-120"/>
              </a:rPr>
              <a:t>A. Sharma, R. Gupta, and P. Verma, “AI-Powered Automated Resume Screening and Job Matching System Using NLP and Machine Learning,” International Journal of Research in Engineering Science and Management, 2025.</a:t>
            </a:r>
            <a:endParaRPr lang="en-US" sz="1750" dirty="0"/>
          </a:p>
        </p:txBody>
      </p:sp>
    </p:spTree>
    <p:extLst>
      <p:ext uri="{BB962C8B-B14F-4D97-AF65-F5344CB8AC3E}">
        <p14:creationId xmlns:p14="http://schemas.microsoft.com/office/powerpoint/2010/main" val="3383338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4C2822-7714-4524-2237-0CC270464E47}"/>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4C9A47E2-BA9F-4128-36A9-B16F13CC83E1}"/>
              </a:ext>
            </a:extLst>
          </p:cNvPr>
          <p:cNvSpPr/>
          <p:nvPr/>
        </p:nvSpPr>
        <p:spPr>
          <a:xfrm>
            <a:off x="793790" y="1466850"/>
            <a:ext cx="7494865" cy="708779"/>
          </a:xfrm>
          <a:prstGeom prst="rect">
            <a:avLst/>
          </a:prstGeom>
          <a:noFill/>
          <a:ln/>
        </p:spPr>
        <p:txBody>
          <a:bodyPr wrap="none" lIns="0" tIns="0" rIns="0" bIns="0" rtlCol="0" anchor="t"/>
          <a:lstStyle/>
          <a:p>
            <a:pPr marL="0" indent="0" algn="l">
              <a:lnSpc>
                <a:spcPts val="5550"/>
              </a:lnSpc>
              <a:buNone/>
            </a:pPr>
            <a:r>
              <a:rPr lang="en-US" sz="4450" dirty="0">
                <a:solidFill>
                  <a:srgbClr val="F7F7F8"/>
                </a:solidFill>
                <a:latin typeface="DM Sans Medium" pitchFamily="34" charset="0"/>
                <a:ea typeface="DM Sans Medium" pitchFamily="34" charset="-122"/>
                <a:cs typeface="DM Sans Medium" pitchFamily="34" charset="-120"/>
              </a:rPr>
              <a:t>References</a:t>
            </a:r>
            <a:endParaRPr lang="en-US" sz="4450" dirty="0"/>
          </a:p>
        </p:txBody>
      </p:sp>
      <p:sp>
        <p:nvSpPr>
          <p:cNvPr id="5" name="Text 2">
            <a:extLst>
              <a:ext uri="{FF2B5EF4-FFF2-40B4-BE49-F238E27FC236}">
                <a16:creationId xmlns:a16="http://schemas.microsoft.com/office/drawing/2014/main" id="{0D9E3F53-D26B-C309-9C36-84AC93997B56}"/>
              </a:ext>
            </a:extLst>
          </p:cNvPr>
          <p:cNvSpPr/>
          <p:nvPr/>
        </p:nvSpPr>
        <p:spPr>
          <a:xfrm>
            <a:off x="793790" y="2418430"/>
            <a:ext cx="11193771" cy="998783"/>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D6D9D7"/>
                </a:solidFill>
                <a:latin typeface="Inter" pitchFamily="34" charset="0"/>
                <a:ea typeface="Inter" pitchFamily="34" charset="-122"/>
                <a:cs typeface="Inter" pitchFamily="34" charset="-120"/>
              </a:rPr>
              <a:t>M. Blessing, “AI-Powered Resume Screening: Benefits and Challenges,” ResearchGate Publication, 2025.</a:t>
            </a:r>
            <a:endParaRPr lang="en-US" sz="1750" dirty="0"/>
          </a:p>
        </p:txBody>
      </p:sp>
      <p:sp>
        <p:nvSpPr>
          <p:cNvPr id="6" name="Text 3">
            <a:extLst>
              <a:ext uri="{FF2B5EF4-FFF2-40B4-BE49-F238E27FC236}">
                <a16:creationId xmlns:a16="http://schemas.microsoft.com/office/drawing/2014/main" id="{69862181-E67F-3937-3737-340300415005}"/>
              </a:ext>
            </a:extLst>
          </p:cNvPr>
          <p:cNvSpPr/>
          <p:nvPr/>
        </p:nvSpPr>
        <p:spPr>
          <a:xfrm>
            <a:off x="793790" y="3417213"/>
            <a:ext cx="9521088" cy="942348"/>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D6D9D7"/>
                </a:solidFill>
                <a:latin typeface="Inter" pitchFamily="34" charset="0"/>
                <a:ea typeface="Inter" pitchFamily="34" charset="-122"/>
                <a:cs typeface="Inter" pitchFamily="34" charset="-120"/>
              </a:rPr>
              <a:t>D. Kumar and S. Singh, “Fair and Transparent AI-Driven Resume Screening Using Explainable AI,” Decision Analytics Journal, Elsevier, 2026.</a:t>
            </a:r>
            <a:endParaRPr lang="en-US" sz="1750" dirty="0"/>
          </a:p>
        </p:txBody>
      </p:sp>
    </p:spTree>
    <p:extLst>
      <p:ext uri="{BB962C8B-B14F-4D97-AF65-F5344CB8AC3E}">
        <p14:creationId xmlns:p14="http://schemas.microsoft.com/office/powerpoint/2010/main" val="38229244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1482</TotalTime>
  <Words>1012</Words>
  <Application>Microsoft Office PowerPoint</Application>
  <PresentationFormat>Custom</PresentationFormat>
  <Paragraphs>126</Paragraphs>
  <Slides>17</Slides>
  <Notes>17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DM Sans Medium</vt:lpstr>
      <vt:lpstr>Inter</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Altamas Nehal</dc:creator>
  <cp:lastModifiedBy>Altamas Nehal</cp:lastModifiedBy>
  <cp:revision>3</cp:revision>
  <dcterms:created xsi:type="dcterms:W3CDTF">2025-09-10T14:59:57Z</dcterms:created>
  <dcterms:modified xsi:type="dcterms:W3CDTF">2026-04-07T16:15:34Z</dcterms:modified>
</cp:coreProperties>
</file>